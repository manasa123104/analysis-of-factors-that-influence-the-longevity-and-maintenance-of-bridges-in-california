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916">
          <p15:clr>
            <a:srgbClr val="A4A3A4"/>
          </p15:clr>
        </p15:guide>
      </p15:sldGuideLst>
    </p:ext>
    <p:ext uri="GoogleSlidesCustomDataVersion2">
      <go:slidesCustomData xmlns:go="http://customooxmlschemas.google.com/" r:id="rId26" roundtripDataSignature="AMtx7mjUgTe7Ga180oOMl1UsnHOheYhW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C709F4-9077-4293-8771-96DB8ED24F61}">
  <a:tblStyle styleId="{0BC709F4-9077-4293-8771-96DB8ED24F61}" styleName="Table_0">
    <a:wholeTbl>
      <a:tcTxStyle b="off" i="off">
        <a:font>
          <a:latin typeface="Century Gothic"/>
          <a:ea typeface="Century Gothic"/>
          <a:cs typeface="Century Gothic"/>
        </a:font>
        <a:schemeClr val="lt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8D0E89D-F07F-48D4-B967-C040EC5970DD}"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1F7E7"/>
          </a:solidFill>
        </a:fill>
      </a:tcStyle>
    </a:wholeTbl>
    <a:band1H>
      <a:tcTxStyle/>
      <a:tcStyle>
        <a:fill>
          <a:solidFill>
            <a:srgbClr val="E2EFCC"/>
          </a:solidFill>
        </a:fill>
      </a:tcStyle>
    </a:band1H>
    <a:band2H>
      <a:tcTxStyle/>
    </a:band2H>
    <a:band1V>
      <a:tcTxStyle/>
      <a:tcStyle>
        <a:fill>
          <a:solidFill>
            <a:srgbClr val="E2EFCC"/>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enturyGothic-regular.fntdata"/><Relationship Id="rId21" Type="http://schemas.openxmlformats.org/officeDocument/2006/relationships/slide" Target="slides/slide15.xml"/><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Concrete is the most commonly used in Californian bridges - it makes sense because concrete offers protection against earthquakes. It is also helps when using concrete with long span bridges and it is also easy to </a:t>
            </a:r>
            <a:r>
              <a:rPr lang="en-US"/>
              <a:t>maintain</a:t>
            </a:r>
            <a:r>
              <a:rPr lang="en-US"/>
              <a:t> in California’s dry climate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Concrete continus have a high tensile strength and is commonly used in most of the bridges in California’s top 5 </a:t>
            </a:r>
            <a:r>
              <a:rPr lang="en-US"/>
              <a:t>cities</a:t>
            </a:r>
            <a:endParaRPr/>
          </a:p>
          <a:p>
            <a:pPr indent="0" lvl="0" marL="0" rtl="0" algn="l">
              <a:spcBef>
                <a:spcPts val="0"/>
              </a:spcBef>
              <a:spcAft>
                <a:spcPts val="0"/>
              </a:spcAft>
              <a:buNone/>
            </a:pPr>
            <a:r>
              <a:rPr lang="en-US"/>
              <a:t>Second most used is pre-stressed concrete continuous which has a much higher tensile strength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Except for LA, the second most </a:t>
            </a:r>
            <a:r>
              <a:rPr lang="en-US"/>
              <a:t>spanning</a:t>
            </a:r>
            <a:r>
              <a:rPr lang="en-US"/>
              <a:t> material is Plain Concrete which has a low tensile strength. This could be </a:t>
            </a:r>
            <a:r>
              <a:rPr lang="en-US"/>
              <a:t>because</a:t>
            </a:r>
            <a:r>
              <a:rPr lang="en-US"/>
              <a:t> LA experienced rapid</a:t>
            </a:r>
            <a:endParaRPr/>
          </a:p>
          <a:p>
            <a:pPr indent="0" lvl="0" marL="0" rtl="0" algn="l">
              <a:spcBef>
                <a:spcPts val="0"/>
              </a:spcBef>
              <a:spcAft>
                <a:spcPts val="0"/>
              </a:spcAft>
              <a:buNone/>
            </a:pPr>
            <a:r>
              <a:rPr lang="en-US"/>
              <a:t>growth in the 20th century, and concrete </a:t>
            </a:r>
            <a:r>
              <a:rPr lang="en-US"/>
              <a:t>technology</a:t>
            </a:r>
            <a:r>
              <a:rPr lang="en-US"/>
              <a:t> was not evolved back then</a:t>
            </a:r>
            <a:endParaRPr/>
          </a:p>
        </p:txBody>
      </p:sp>
      <p:sp>
        <p:nvSpPr>
          <p:cNvPr id="250" name="Google Shape;25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In this code, the model is trained to predict the **structure length** of a bridge based on the **number of spans** in its main unit using a **Random Forest Regressor**. The dataset is first cleaned by filling missing values with the median of the respective columns and transforming the relevant features into a format suitable for modeling. The data is split into training and test sets, and the model is trained on the training data before making predictions on the test data, which are then displayed alongside the actual values.</a:t>
            </a:r>
            <a:endParaRPr/>
          </a:p>
        </p:txBody>
      </p:sp>
      <p:sp>
        <p:nvSpPr>
          <p:cNvPr id="258" name="Google Shape;25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1"/>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chemeClr val="accent1"/>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4" name="Google Shape;24;p2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2"/>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0" name="Google Shape;30;p2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6" name="Google Shape;36;p23"/>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7" name="Google Shape;37;p2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24"/>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43" name="Google Shape;43;p2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9" name="Google Shape;49;p25"/>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0" name="Google Shape;50;p25"/>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1" name="Google Shape;51;p25"/>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2" name="Google Shape;52;p2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8"/>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7" name="Google Shape;67;p28"/>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8" name="Google Shape;68;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9"/>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4" name="Google Shape;74;p29"/>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5" name="Google Shape;75;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0"/>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81" name="Google Shape;81;p30"/>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2" name="Google Shape;82;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1"/>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8" name="Google Shape;88;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2"/>
          <p:cNvSpPr txBox="1"/>
          <p:nvPr>
            <p:ph type="title"/>
          </p:nvPr>
        </p:nvSpPr>
        <p:spPr>
          <a:xfrm>
            <a:off x="1181409" y="1447800"/>
            <a:ext cx="6001049" cy="231764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2"/>
          <p:cNvSpPr txBox="1"/>
          <p:nvPr>
            <p:ph idx="1" type="body"/>
          </p:nvPr>
        </p:nvSpPr>
        <p:spPr>
          <a:xfrm>
            <a:off x="1454530" y="3765449"/>
            <a:ext cx="5449871"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chemeClr val="accent1"/>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4" name="Google Shape;94;p32"/>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5" name="Google Shape;95;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32"/>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chemeClr val="accent1"/>
                </a:solidFill>
                <a:latin typeface="Arial"/>
                <a:ea typeface="Arial"/>
                <a:cs typeface="Arial"/>
                <a:sym typeface="Arial"/>
              </a:rPr>
              <a:t>“</a:t>
            </a:r>
            <a:endParaRPr/>
          </a:p>
        </p:txBody>
      </p:sp>
      <p:sp>
        <p:nvSpPr>
          <p:cNvPr id="99" name="Google Shape;99;p32"/>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3"/>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3"/>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103" name="Google Shape;103;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4"/>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34"/>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0" name="Google Shape;110;p34"/>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1" name="Google Shape;111;p34"/>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2" name="Google Shape;112;p34"/>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34"/>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4" name="Google Shape;114;p34"/>
          <p:cNvCxnSpPr/>
          <p:nvPr/>
        </p:nvCxnSpPr>
        <p:spPr>
          <a:xfrm>
            <a:off x="2795334"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15" name="Google Shape;115;p34"/>
          <p:cNvCxnSpPr/>
          <p:nvPr/>
        </p:nvCxnSpPr>
        <p:spPr>
          <a:xfrm>
            <a:off x="5223030"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16" name="Google Shape;116;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3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5"/>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2" name="Google Shape;122;p35"/>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3" name="Google Shape;123;p35"/>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4" name="Google Shape;124;p35"/>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5" name="Google Shape;125;p35"/>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6" name="Google Shape;126;p35"/>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7" name="Google Shape;127;p35"/>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8" name="Google Shape;128;p35"/>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9" name="Google Shape;129;p35"/>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30" name="Google Shape;130;p35"/>
          <p:cNvCxnSpPr/>
          <p:nvPr/>
        </p:nvCxnSpPr>
        <p:spPr>
          <a:xfrm>
            <a:off x="2795334"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31" name="Google Shape;131;p35"/>
          <p:cNvCxnSpPr/>
          <p:nvPr/>
        </p:nvCxnSpPr>
        <p:spPr>
          <a:xfrm>
            <a:off x="5223030"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32" name="Google Shape;132;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6"/>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8" name="Google Shape;138;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7"/>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7"/>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4" name="Google Shape;144;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0"/>
          <p:cNvSpPr/>
          <p:nvPr/>
        </p:nvSpPr>
        <p:spPr>
          <a:xfrm>
            <a:off x="6299432" y="1676400"/>
            <a:ext cx="2819400" cy="2819400"/>
          </a:xfrm>
          <a:prstGeom prst="ellipse">
            <a:avLst/>
          </a:prstGeom>
          <a:gradFill>
            <a:gsLst>
              <a:gs pos="0">
                <a:srgbClr val="78C4F1">
                  <a:alpha val="6666"/>
                </a:srgbClr>
              </a:gs>
              <a:gs pos="36000">
                <a:srgbClr val="78C4F1">
                  <a:alpha val="5882"/>
                </a:srgbClr>
              </a:gs>
              <a:gs pos="69000">
                <a:srgbClr val="78C4F1">
                  <a:alpha val="0"/>
                </a:srgbClr>
              </a:gs>
              <a:gs pos="100000">
                <a:srgbClr val="78C4F1">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0"/>
          <p:cNvSpPr/>
          <p:nvPr/>
        </p:nvSpPr>
        <p:spPr>
          <a:xfrm>
            <a:off x="5689832" y="-457200"/>
            <a:ext cx="1600200" cy="1600200"/>
          </a:xfrm>
          <a:prstGeom prst="ellipse">
            <a:avLst/>
          </a:prstGeom>
          <a:gradFill>
            <a:gsLst>
              <a:gs pos="0">
                <a:srgbClr val="78C4F1">
                  <a:alpha val="13725"/>
                </a:srgbClr>
              </a:gs>
              <a:gs pos="36000">
                <a:srgbClr val="78C4F1">
                  <a:alpha val="6666"/>
                </a:srgbClr>
              </a:gs>
              <a:gs pos="73000">
                <a:srgbClr val="78C4F1">
                  <a:alpha val="0"/>
                </a:srgbClr>
              </a:gs>
              <a:gs pos="100000">
                <a:srgbClr val="78C4F1">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0"/>
          <p:cNvSpPr/>
          <p:nvPr/>
        </p:nvSpPr>
        <p:spPr>
          <a:xfrm>
            <a:off x="6299432" y="6096000"/>
            <a:ext cx="990600" cy="990600"/>
          </a:xfrm>
          <a:prstGeom prst="ellipse">
            <a:avLst/>
          </a:prstGeom>
          <a:gradFill>
            <a:gsLst>
              <a:gs pos="0">
                <a:srgbClr val="78C4F1">
                  <a:alpha val="13725"/>
                </a:srgbClr>
              </a:gs>
              <a:gs pos="36000">
                <a:srgbClr val="78C4F1">
                  <a:alpha val="6666"/>
                </a:srgbClr>
              </a:gs>
              <a:gs pos="66000">
                <a:srgbClr val="78C4F1">
                  <a:alpha val="0"/>
                </a:srgbClr>
              </a:gs>
              <a:gs pos="100000">
                <a:srgbClr val="78C4F1">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0"/>
          <p:cNvSpPr/>
          <p:nvPr/>
        </p:nvSpPr>
        <p:spPr>
          <a:xfrm>
            <a:off x="-153988" y="2667000"/>
            <a:ext cx="4191000" cy="4191000"/>
          </a:xfrm>
          <a:prstGeom prst="ellipse">
            <a:avLst/>
          </a:prstGeom>
          <a:gradFill>
            <a:gsLst>
              <a:gs pos="0">
                <a:srgbClr val="78C4F1">
                  <a:alpha val="10980"/>
                </a:srgbClr>
              </a:gs>
              <a:gs pos="36000">
                <a:srgbClr val="78C4F1">
                  <a:alpha val="9803"/>
                </a:srgbClr>
              </a:gs>
              <a:gs pos="75000">
                <a:srgbClr val="78C4F1">
                  <a:alpha val="0"/>
                </a:srgbClr>
              </a:gs>
              <a:gs pos="100000">
                <a:srgbClr val="78C4F1">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0"/>
          <p:cNvSpPr/>
          <p:nvPr/>
        </p:nvSpPr>
        <p:spPr>
          <a:xfrm>
            <a:off x="-839788" y="2895600"/>
            <a:ext cx="2362200" cy="2362200"/>
          </a:xfrm>
          <a:prstGeom prst="ellipse">
            <a:avLst/>
          </a:prstGeom>
          <a:gradFill>
            <a:gsLst>
              <a:gs pos="0">
                <a:srgbClr val="78C4F1">
                  <a:alpha val="7843"/>
                </a:srgbClr>
              </a:gs>
              <a:gs pos="36000">
                <a:srgbClr val="78C4F1">
                  <a:alpha val="7843"/>
                </a:srgbClr>
              </a:gs>
              <a:gs pos="72000">
                <a:srgbClr val="78C4F1">
                  <a:alpha val="0"/>
                </a:srgbClr>
              </a:gs>
              <a:gs pos="100000">
                <a:srgbClr val="78C4F1">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0"/>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7" name="Google Shape;17;p20"/>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chemeClr val="accent1"/>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chemeClr val="accent1"/>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chemeClr val="accent1"/>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chemeClr val="accent1"/>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2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2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2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1"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1"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1"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1"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1"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1"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1"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1"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infobridge.fhwa.dot.gov/Data/SelectedBridges"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rosap.ntl.bts.gov/view/dot/74540" TargetMode="External"/><Relationship Id="rId4" Type="http://schemas.openxmlformats.org/officeDocument/2006/relationships/hyperlink" Target="https://rosap.ntl.bts.gov/view/dot/55485" TargetMode="External"/><Relationship Id="rId5" Type="http://schemas.openxmlformats.org/officeDocument/2006/relationships/hyperlink" Target="https://infobridge.fhwa.dot.gov/Data/SelectedBridg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93914" y="812946"/>
            <a:ext cx="7848600" cy="3021437"/>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2"/>
              </a:buClr>
              <a:buSzPct val="100000"/>
              <a:buFont typeface="Times New Roman"/>
              <a:buNone/>
            </a:pPr>
            <a:br>
              <a:rPr b="1" lang="en-US" sz="4400">
                <a:latin typeface="Times New Roman"/>
                <a:ea typeface="Times New Roman"/>
                <a:cs typeface="Times New Roman"/>
                <a:sym typeface="Times New Roman"/>
              </a:rPr>
            </a:br>
            <a:br>
              <a:rPr b="1" lang="en-US" sz="4400">
                <a:latin typeface="Times New Roman"/>
                <a:ea typeface="Times New Roman"/>
                <a:cs typeface="Times New Roman"/>
                <a:sym typeface="Times New Roman"/>
              </a:rPr>
            </a:br>
            <a:r>
              <a:rPr b="1" lang="en-US" sz="4400">
                <a:latin typeface="Times New Roman"/>
                <a:ea typeface="Times New Roman"/>
                <a:cs typeface="Times New Roman"/>
                <a:sym typeface="Times New Roman"/>
              </a:rPr>
              <a:t>Analysis of Factors that Influence the Conditions of Bridges in California </a:t>
            </a:r>
            <a:br>
              <a:rPr b="1" lang="en-US" sz="4400">
                <a:latin typeface="Times New Roman"/>
                <a:ea typeface="Times New Roman"/>
                <a:cs typeface="Times New Roman"/>
                <a:sym typeface="Times New Roman"/>
              </a:rPr>
            </a:br>
            <a:r>
              <a:rPr b="1" lang="en-US" sz="4400">
                <a:latin typeface="Times New Roman"/>
                <a:ea typeface="Times New Roman"/>
                <a:cs typeface="Times New Roman"/>
                <a:sym typeface="Times New Roman"/>
              </a:rPr>
              <a:t>                                  </a:t>
            </a:r>
            <a:br>
              <a:rPr lang="en-US" sz="4400">
                <a:latin typeface="Times New Roman"/>
                <a:ea typeface="Times New Roman"/>
                <a:cs typeface="Times New Roman"/>
                <a:sym typeface="Times New Roman"/>
              </a:rPr>
            </a:br>
            <a:endParaRPr sz="4400">
              <a:latin typeface="Times New Roman"/>
              <a:ea typeface="Times New Roman"/>
              <a:cs typeface="Times New Roman"/>
              <a:sym typeface="Times New Roman"/>
            </a:endParaRPr>
          </a:p>
        </p:txBody>
      </p:sp>
      <p:sp>
        <p:nvSpPr>
          <p:cNvPr id="152" name="Google Shape;152;p1"/>
          <p:cNvSpPr txBox="1"/>
          <p:nvPr>
            <p:ph idx="1" type="subTitle"/>
          </p:nvPr>
        </p:nvSpPr>
        <p:spPr>
          <a:xfrm>
            <a:off x="374200" y="4947125"/>
            <a:ext cx="3148500" cy="1720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SzPts val="1040"/>
              <a:buNone/>
            </a:pPr>
            <a:r>
              <a:rPr lang="en-US" sz="1400">
                <a:latin typeface="Times New Roman"/>
                <a:ea typeface="Times New Roman"/>
                <a:cs typeface="Times New Roman"/>
                <a:sym typeface="Times New Roman"/>
              </a:rPr>
              <a:t>AIT-614 SECTION 002</a:t>
            </a:r>
            <a:endParaRPr sz="1400">
              <a:latin typeface="Times New Roman"/>
              <a:ea typeface="Times New Roman"/>
              <a:cs typeface="Times New Roman"/>
              <a:sym typeface="Times New Roman"/>
            </a:endParaRPr>
          </a:p>
          <a:p>
            <a:pPr indent="0" lvl="0" marL="0" rtl="0" algn="l">
              <a:spcBef>
                <a:spcPts val="1000"/>
              </a:spcBef>
              <a:spcAft>
                <a:spcPts val="0"/>
              </a:spcAft>
              <a:buSzPts val="1040"/>
              <a:buNone/>
            </a:pPr>
            <a:r>
              <a:rPr lang="en-US" sz="1400">
                <a:latin typeface="Times New Roman"/>
                <a:ea typeface="Times New Roman"/>
                <a:cs typeface="Times New Roman"/>
                <a:sym typeface="Times New Roman"/>
              </a:rPr>
              <a:t>BIG DATA ESSENTIALS</a:t>
            </a:r>
            <a:endParaRPr sz="1400"/>
          </a:p>
          <a:p>
            <a:pPr indent="0" lvl="0" marL="0" rtl="0" algn="l">
              <a:spcBef>
                <a:spcPts val="1000"/>
              </a:spcBef>
              <a:spcAft>
                <a:spcPts val="0"/>
              </a:spcAft>
              <a:buSzPts val="1040"/>
              <a:buNone/>
            </a:pPr>
            <a:r>
              <a:rPr lang="en-US" sz="1400">
                <a:latin typeface="Times New Roman"/>
                <a:ea typeface="Times New Roman"/>
                <a:cs typeface="Times New Roman"/>
                <a:sym typeface="Times New Roman"/>
              </a:rPr>
              <a:t>INSTRUCTOR: DR. EDDY ZHANG</a:t>
            </a:r>
            <a:endParaRPr sz="1400"/>
          </a:p>
          <a:p>
            <a:pPr indent="0" lvl="0" marL="0" rtl="0" algn="l">
              <a:spcBef>
                <a:spcPts val="1000"/>
              </a:spcBef>
              <a:spcAft>
                <a:spcPts val="0"/>
              </a:spcAft>
              <a:buSzPts val="1040"/>
              <a:buNone/>
            </a:pPr>
            <a:r>
              <a:rPr lang="en-US" sz="1400">
                <a:latin typeface="Times New Roman"/>
                <a:ea typeface="Times New Roman"/>
                <a:cs typeface="Times New Roman"/>
                <a:sym typeface="Times New Roman"/>
              </a:rPr>
              <a:t>GEORGE MASON UNIVERSITY</a:t>
            </a:r>
            <a:endParaRPr sz="1400">
              <a:latin typeface="Times New Roman"/>
              <a:ea typeface="Times New Roman"/>
              <a:cs typeface="Times New Roman"/>
              <a:sym typeface="Times New Roman"/>
            </a:endParaRPr>
          </a:p>
          <a:p>
            <a:pPr indent="0" lvl="0" marL="0" rtl="0" algn="l">
              <a:spcBef>
                <a:spcPts val="1000"/>
              </a:spcBef>
              <a:spcAft>
                <a:spcPts val="0"/>
              </a:spcAft>
              <a:buSzPts val="1040"/>
              <a:buNone/>
            </a:pPr>
            <a:r>
              <a:rPr lang="en-US" sz="1400">
                <a:latin typeface="Times New Roman"/>
                <a:ea typeface="Times New Roman"/>
                <a:cs typeface="Times New Roman"/>
                <a:sym typeface="Times New Roman"/>
              </a:rPr>
              <a:t>20 NOVEMBER  2024</a:t>
            </a:r>
            <a:endParaRPr sz="1400">
              <a:latin typeface="Times New Roman"/>
              <a:ea typeface="Times New Roman"/>
              <a:cs typeface="Times New Roman"/>
              <a:sym typeface="Times New Roman"/>
            </a:endParaRPr>
          </a:p>
        </p:txBody>
      </p:sp>
      <p:graphicFrame>
        <p:nvGraphicFramePr>
          <p:cNvPr id="153" name="Google Shape;153;p1"/>
          <p:cNvGraphicFramePr/>
          <p:nvPr/>
        </p:nvGraphicFramePr>
        <p:xfrm>
          <a:off x="5025575" y="3985940"/>
          <a:ext cx="3000000" cy="3000000"/>
        </p:xfrm>
        <a:graphic>
          <a:graphicData uri="http://schemas.openxmlformats.org/drawingml/2006/table">
            <a:tbl>
              <a:tblPr bandRow="1" firstRow="1">
                <a:noFill/>
                <a:tableStyleId>{0BC709F4-9077-4293-8771-96DB8ED24F61}</a:tableStyleId>
              </a:tblPr>
              <a:tblGrid>
                <a:gridCol w="3886200"/>
              </a:tblGrid>
              <a:tr h="209625">
                <a:tc>
                  <a:txBody>
                    <a:bodyPr/>
                    <a:lstStyle/>
                    <a:p>
                      <a:pPr indent="0" lvl="0" marL="0" marR="0" rtl="0" algn="l">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Swetha Sathishkumar</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625">
                <a:tc>
                  <a:txBody>
                    <a:bodyPr/>
                    <a:lstStyle/>
                    <a:p>
                      <a:pPr indent="0" lvl="0" marL="0" marR="0" rtl="0" algn="l">
                        <a:spcBef>
                          <a:spcPts val="0"/>
                        </a:spcBef>
                        <a:spcAft>
                          <a:spcPts val="0"/>
                        </a:spcAft>
                        <a:buNone/>
                      </a:pPr>
                      <a:r>
                        <a:rPr lang="en-US" sz="1800"/>
                        <a:t>Appala Dhanush BaliReddy</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625">
                <a:tc>
                  <a:txBody>
                    <a:bodyPr/>
                    <a:lstStyle/>
                    <a:p>
                      <a:pPr indent="0" lvl="0" marL="0" marR="0" rtl="0" algn="l">
                        <a:spcBef>
                          <a:spcPts val="0"/>
                        </a:spcBef>
                        <a:spcAft>
                          <a:spcPts val="0"/>
                        </a:spcAft>
                        <a:buNone/>
                      </a:pPr>
                      <a:r>
                        <a:rPr lang="en-US" sz="1800"/>
                        <a:t>Manasa Rajagopal Madabushi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625">
                <a:tc>
                  <a:txBody>
                    <a:bodyPr/>
                    <a:lstStyle/>
                    <a:p>
                      <a:pPr indent="0" lvl="0" marL="0" marR="0" rtl="0" algn="l">
                        <a:spcBef>
                          <a:spcPts val="0"/>
                        </a:spcBef>
                        <a:spcAft>
                          <a:spcPts val="0"/>
                        </a:spcAft>
                        <a:buNone/>
                      </a:pPr>
                      <a:r>
                        <a:rPr lang="en-US" sz="1800"/>
                        <a:t>Lavanya Nerale Ramesh</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4075">
                <a:tc>
                  <a:txBody>
                    <a:bodyPr/>
                    <a:lstStyle/>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Syama Latha Seera</a:t>
                      </a:r>
                      <a:endParaRPr b="0" sz="1800"/>
                    </a:p>
                    <a:p>
                      <a:pPr indent="0" lvl="0" marL="0" marR="0" rtl="0" algn="l">
                        <a:spcBef>
                          <a:spcPts val="0"/>
                        </a:spcBef>
                        <a:spcAft>
                          <a:spcPts val="0"/>
                        </a:spcAft>
                        <a:buNone/>
                      </a:pPr>
                      <a:br>
                        <a:rPr lang="en-US" sz="1800"/>
                      </a:b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4" name="Google Shape;154;p1"/>
          <p:cNvSpPr txBox="1"/>
          <p:nvPr/>
        </p:nvSpPr>
        <p:spPr>
          <a:xfrm>
            <a:off x="5025576" y="3428999"/>
            <a:ext cx="260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TEAM 8</a:t>
            </a:r>
            <a:endParaRPr/>
          </a:p>
        </p:txBody>
      </p:sp>
      <p:sp>
        <p:nvSpPr>
          <p:cNvPr id="155" name="Google Shape;155;p1"/>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01</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
          <p:cNvSpPr txBox="1"/>
          <p:nvPr>
            <p:ph type="title"/>
          </p:nvPr>
        </p:nvSpPr>
        <p:spPr>
          <a:xfrm>
            <a:off x="486700" y="629275"/>
            <a:ext cx="7966500" cy="1622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161" name="Google Shape;161;p2"/>
          <p:cNvSpPr txBox="1"/>
          <p:nvPr>
            <p:ph idx="1" type="body"/>
          </p:nvPr>
        </p:nvSpPr>
        <p:spPr>
          <a:xfrm>
            <a:off x="651725" y="1649925"/>
            <a:ext cx="4079100" cy="4337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040"/>
              <a:buNone/>
            </a:pPr>
            <a:r>
              <a:t/>
            </a:r>
            <a:endParaRPr sz="1600">
              <a:latin typeface="Century Gothic"/>
              <a:ea typeface="Century Gothic"/>
              <a:cs typeface="Century Gothic"/>
              <a:sym typeface="Century Gothic"/>
            </a:endParaRPr>
          </a:p>
          <a:p>
            <a:pPr indent="0" lvl="0" marL="0" rtl="0" algn="l">
              <a:lnSpc>
                <a:spcPct val="90000"/>
              </a:lnSpc>
              <a:spcBef>
                <a:spcPts val="1000"/>
              </a:spcBef>
              <a:spcAft>
                <a:spcPts val="0"/>
              </a:spcAft>
              <a:buSzPts val="1040"/>
              <a:buNone/>
            </a:pPr>
            <a:r>
              <a:rPr lang="en-US" sz="1600">
                <a:latin typeface="Times New Roman"/>
                <a:ea typeface="Times New Roman"/>
                <a:cs typeface="Times New Roman"/>
                <a:sym typeface="Times New Roman"/>
              </a:rPr>
              <a:t>Context</a:t>
            </a:r>
            <a:endParaRPr sz="1600"/>
          </a:p>
          <a:p>
            <a:pPr indent="-378460" lvl="0" marL="342900" rtl="0" algn="l">
              <a:lnSpc>
                <a:spcPct val="90000"/>
              </a:lnSpc>
              <a:spcBef>
                <a:spcPts val="1000"/>
              </a:spcBef>
              <a:spcAft>
                <a:spcPts val="0"/>
              </a:spcAft>
              <a:buSzPts val="1600"/>
              <a:buChar char="►"/>
            </a:pPr>
            <a:r>
              <a:rPr lang="en-US" sz="1600">
                <a:latin typeface="Times New Roman"/>
                <a:ea typeface="Times New Roman"/>
                <a:cs typeface="Times New Roman"/>
                <a:sym typeface="Times New Roman"/>
              </a:rPr>
              <a:t>Bridges are essential for infrastructure safety and mobility.</a:t>
            </a:r>
            <a:endParaRPr sz="1600">
              <a:latin typeface="Times New Roman"/>
              <a:ea typeface="Times New Roman"/>
              <a:cs typeface="Times New Roman"/>
              <a:sym typeface="Times New Roman"/>
            </a:endParaRPr>
          </a:p>
          <a:p>
            <a:pPr indent="-378460" lvl="0" marL="342900" rtl="0" algn="l">
              <a:lnSpc>
                <a:spcPct val="90000"/>
              </a:lnSpc>
              <a:spcBef>
                <a:spcPts val="1000"/>
              </a:spcBef>
              <a:spcAft>
                <a:spcPts val="0"/>
              </a:spcAft>
              <a:buSzPts val="1600"/>
              <a:buChar char="►"/>
            </a:pPr>
            <a:r>
              <a:rPr lang="en-US" sz="1600">
                <a:latin typeface="Times New Roman"/>
                <a:ea typeface="Times New Roman"/>
                <a:cs typeface="Times New Roman"/>
                <a:sym typeface="Times New Roman"/>
              </a:rPr>
              <a:t>There are a lot of old bridges in California that need to be carefully analyzed in order to determine their maintenance priorities.</a:t>
            </a:r>
            <a:endParaRPr sz="1600"/>
          </a:p>
          <a:p>
            <a:pPr indent="-276860" lvl="0" marL="342900" rtl="0" algn="l">
              <a:lnSpc>
                <a:spcPct val="90000"/>
              </a:lnSpc>
              <a:spcBef>
                <a:spcPts val="1000"/>
              </a:spcBef>
              <a:spcAft>
                <a:spcPts val="0"/>
              </a:spcAft>
              <a:buSzPts val="1040"/>
              <a:buNone/>
            </a:pPr>
            <a:r>
              <a:t/>
            </a:r>
            <a:endParaRPr sz="1600">
              <a:latin typeface="Times New Roman"/>
              <a:ea typeface="Times New Roman"/>
              <a:cs typeface="Times New Roman"/>
              <a:sym typeface="Times New Roman"/>
            </a:endParaRPr>
          </a:p>
          <a:p>
            <a:pPr indent="0" lvl="0" marL="0" rtl="0" algn="l">
              <a:lnSpc>
                <a:spcPct val="90000"/>
              </a:lnSpc>
              <a:spcBef>
                <a:spcPts val="1000"/>
              </a:spcBef>
              <a:spcAft>
                <a:spcPts val="0"/>
              </a:spcAft>
              <a:buSzPts val="1040"/>
              <a:buNone/>
            </a:pPr>
            <a:r>
              <a:rPr lang="en-US" sz="1600">
                <a:latin typeface="Times New Roman"/>
                <a:ea typeface="Times New Roman"/>
                <a:cs typeface="Times New Roman"/>
                <a:sym typeface="Times New Roman"/>
              </a:rPr>
              <a:t>Scope:</a:t>
            </a:r>
            <a:endParaRPr sz="1600"/>
          </a:p>
          <a:p>
            <a:pPr indent="-378460" lvl="0" marL="342900" rtl="0" algn="l">
              <a:lnSpc>
                <a:spcPct val="90000"/>
              </a:lnSpc>
              <a:spcBef>
                <a:spcPts val="1000"/>
              </a:spcBef>
              <a:spcAft>
                <a:spcPts val="0"/>
              </a:spcAft>
              <a:buSzPts val="1600"/>
              <a:buChar char="►"/>
            </a:pPr>
            <a:r>
              <a:rPr lang="en-US" sz="1600">
                <a:latin typeface="Times New Roman"/>
                <a:ea typeface="Times New Roman"/>
                <a:cs typeface="Times New Roman"/>
                <a:sym typeface="Times New Roman"/>
              </a:rPr>
              <a:t>Analyze data and </a:t>
            </a:r>
            <a:r>
              <a:rPr lang="en-US" sz="1600">
                <a:latin typeface="Times New Roman"/>
                <a:ea typeface="Times New Roman"/>
                <a:cs typeface="Times New Roman"/>
                <a:sym typeface="Times New Roman"/>
              </a:rPr>
              <a:t>draw</a:t>
            </a:r>
            <a:r>
              <a:rPr lang="en-US" sz="1600">
                <a:latin typeface="Times New Roman"/>
                <a:ea typeface="Times New Roman"/>
                <a:cs typeface="Times New Roman"/>
                <a:sym typeface="Times New Roman"/>
              </a:rPr>
              <a:t> insights specific to some of the top </a:t>
            </a:r>
            <a:r>
              <a:rPr lang="en-US" sz="1600">
                <a:latin typeface="Times New Roman"/>
                <a:ea typeface="Times New Roman"/>
                <a:cs typeface="Times New Roman"/>
                <a:sym typeface="Times New Roman"/>
              </a:rPr>
              <a:t>cities</a:t>
            </a:r>
            <a:r>
              <a:rPr lang="en-US" sz="1600">
                <a:latin typeface="Times New Roman"/>
                <a:ea typeface="Times New Roman"/>
                <a:cs typeface="Times New Roman"/>
                <a:sym typeface="Times New Roman"/>
              </a:rPr>
              <a:t> in California</a:t>
            </a:r>
            <a:endParaRPr sz="1600">
              <a:latin typeface="Times New Roman"/>
              <a:ea typeface="Times New Roman"/>
              <a:cs typeface="Times New Roman"/>
              <a:sym typeface="Times New Roman"/>
            </a:endParaRPr>
          </a:p>
          <a:p>
            <a:pPr indent="-378460" lvl="0" marL="342900" rtl="0" algn="l">
              <a:lnSpc>
                <a:spcPct val="90000"/>
              </a:lnSpc>
              <a:spcBef>
                <a:spcPts val="1000"/>
              </a:spcBef>
              <a:spcAft>
                <a:spcPts val="0"/>
              </a:spcAft>
              <a:buSzPts val="1600"/>
              <a:buChar char="►"/>
            </a:pPr>
            <a:r>
              <a:rPr lang="en-US" sz="1600">
                <a:latin typeface="Times New Roman"/>
                <a:ea typeface="Times New Roman"/>
                <a:cs typeface="Times New Roman"/>
                <a:sym typeface="Times New Roman"/>
              </a:rPr>
              <a:t>Concentrate on determining the primary elements influencing bridge conditions and bridge length  in the state of California.</a:t>
            </a:r>
            <a:endParaRPr sz="1600"/>
          </a:p>
          <a:p>
            <a:pPr indent="-276860" lvl="0" marL="342900" rtl="0" algn="l">
              <a:lnSpc>
                <a:spcPct val="90000"/>
              </a:lnSpc>
              <a:spcBef>
                <a:spcPts val="1000"/>
              </a:spcBef>
              <a:spcAft>
                <a:spcPts val="0"/>
              </a:spcAft>
              <a:buSzPts val="1040"/>
              <a:buNone/>
            </a:pPr>
            <a:r>
              <a:t/>
            </a:r>
            <a:endParaRPr sz="1600"/>
          </a:p>
          <a:p>
            <a:pPr indent="0" lvl="0" marL="66040" rtl="0" algn="l">
              <a:lnSpc>
                <a:spcPct val="90000"/>
              </a:lnSpc>
              <a:spcBef>
                <a:spcPts val="1000"/>
              </a:spcBef>
              <a:spcAft>
                <a:spcPts val="0"/>
              </a:spcAft>
              <a:buSzPts val="1040"/>
              <a:buNone/>
            </a:pPr>
            <a:r>
              <a:t/>
            </a:r>
            <a:endParaRPr sz="1600"/>
          </a:p>
        </p:txBody>
      </p:sp>
      <p:sp>
        <p:nvSpPr>
          <p:cNvPr id="162" name="Google Shape;162;p2"/>
          <p:cNvSpPr/>
          <p:nvPr/>
        </p:nvSpPr>
        <p:spPr>
          <a:xfrm>
            <a:off x="4837382" y="-1"/>
            <a:ext cx="419604"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3" name="Google Shape;163;p2"/>
          <p:cNvSpPr/>
          <p:nvPr/>
        </p:nvSpPr>
        <p:spPr>
          <a:xfrm>
            <a:off x="5665604" y="0"/>
            <a:ext cx="34788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4" name="Google Shape;164;p2"/>
          <p:cNvSpPr/>
          <p:nvPr/>
        </p:nvSpPr>
        <p:spPr>
          <a:xfrm rot="-5400000">
            <a:off x="2072552" y="2924729"/>
            <a:ext cx="6858000" cy="1008540"/>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5" name="Google Shape;165;p2"/>
          <p:cNvSpPr/>
          <p:nvPr/>
        </p:nvSpPr>
        <p:spPr>
          <a:xfrm>
            <a:off x="7831836" y="0"/>
            <a:ext cx="514500" cy="1143000"/>
          </a:xfrm>
          <a:prstGeom prst="rect">
            <a:avLst/>
          </a:prstGeom>
          <a:solidFill>
            <a:schemeClr val="accent1"/>
          </a:solidFill>
          <a:ln>
            <a:noFill/>
          </a:ln>
          <a:effectLst>
            <a:outerShdw blurRad="38100" rotWithShape="0" dir="5400000" dist="25400">
              <a:srgbClr val="000000">
                <a:alpha val="4471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6" name="Google Shape;166;p2"/>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02</a:t>
            </a:r>
            <a:endParaRPr sz="2000">
              <a:solidFill>
                <a:schemeClr val="lt1"/>
              </a:solidFill>
              <a:latin typeface="Century Gothic"/>
              <a:ea typeface="Century Gothic"/>
              <a:cs typeface="Century Gothic"/>
              <a:sym typeface="Century Gothic"/>
            </a:endParaRPr>
          </a:p>
        </p:txBody>
      </p:sp>
      <p:sp>
        <p:nvSpPr>
          <p:cNvPr id="167" name="Google Shape;167;p2"/>
          <p:cNvSpPr/>
          <p:nvPr/>
        </p:nvSpPr>
        <p:spPr>
          <a:xfrm>
            <a:off x="5731301" y="2561912"/>
            <a:ext cx="2953500" cy="2479200"/>
          </a:xfrm>
          <a:prstGeom prst="rect">
            <a:avLst/>
          </a:prstGeom>
          <a:blipFill rotWithShape="1">
            <a:blip r:embed="rId3">
              <a:alphaModFix/>
            </a:blip>
            <a:stretch>
              <a:fillRect b="0" l="0" r="0" t="0"/>
            </a:stretch>
          </a:blip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
          <p:cNvSpPr txBox="1"/>
          <p:nvPr>
            <p:ph type="title"/>
          </p:nvPr>
        </p:nvSpPr>
        <p:spPr>
          <a:xfrm>
            <a:off x="457200" y="315507"/>
            <a:ext cx="8229600" cy="7924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Project Objectives</a:t>
            </a:r>
            <a:endParaRPr/>
          </a:p>
        </p:txBody>
      </p:sp>
      <p:grpSp>
        <p:nvGrpSpPr>
          <p:cNvPr id="173" name="Google Shape;173;p4"/>
          <p:cNvGrpSpPr/>
          <p:nvPr/>
        </p:nvGrpSpPr>
        <p:grpSpPr>
          <a:xfrm>
            <a:off x="457200" y="2355607"/>
            <a:ext cx="8000998" cy="3500438"/>
            <a:chOff x="0" y="270433"/>
            <a:chExt cx="8000998" cy="3500438"/>
          </a:xfrm>
        </p:grpSpPr>
        <p:sp>
          <p:nvSpPr>
            <p:cNvPr id="174" name="Google Shape;174;p4"/>
            <p:cNvSpPr/>
            <p:nvPr/>
          </p:nvSpPr>
          <p:spPr>
            <a:xfrm>
              <a:off x="0" y="270433"/>
              <a:ext cx="2500312" cy="3500437"/>
            </a:xfrm>
            <a:prstGeom prst="rect">
              <a:avLst/>
            </a:prstGeom>
            <a:solidFill>
              <a:srgbClr val="E1EFCB">
                <a:alpha val="89803"/>
              </a:srgbClr>
            </a:solidFill>
            <a:ln cap="rnd" cmpd="sng" w="19050">
              <a:solidFill>
                <a:srgbClr val="E1EF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txBox="1"/>
            <p:nvPr/>
          </p:nvSpPr>
          <p:spPr>
            <a:xfrm>
              <a:off x="0" y="1600600"/>
              <a:ext cx="2500312" cy="2100262"/>
            </a:xfrm>
            <a:prstGeom prst="rect">
              <a:avLst/>
            </a:prstGeom>
            <a:noFill/>
            <a:ln>
              <a:noFill/>
            </a:ln>
          </p:spPr>
          <p:txBody>
            <a:bodyPr anchorCtr="0" anchor="t" bIns="330200" lIns="194925" spcFirstLastPara="1" rIns="194925" wrap="square" tIns="330200">
              <a:noAutofit/>
            </a:bodyPr>
            <a:lstStyle/>
            <a:p>
              <a:pPr indent="0" lvl="0" marL="0" marR="0" rtl="0" algn="l">
                <a:lnSpc>
                  <a:spcPct val="90000"/>
                </a:lnSpc>
                <a:spcBef>
                  <a:spcPts val="0"/>
                </a:spcBef>
                <a:spcAft>
                  <a:spcPts val="0"/>
                </a:spcAft>
                <a:buClr>
                  <a:schemeClr val="lt1"/>
                </a:buClr>
                <a:buSzPts val="1800"/>
                <a:buFont typeface="Century Gothic"/>
                <a:buNone/>
              </a:pPr>
              <a:r>
                <a:rPr lang="en-US" sz="1800">
                  <a:solidFill>
                    <a:schemeClr val="dk1"/>
                  </a:solidFill>
                  <a:latin typeface="Century Gothic"/>
                  <a:ea typeface="Century Gothic"/>
                  <a:cs typeface="Century Gothic"/>
                  <a:sym typeface="Century Gothic"/>
                </a:rPr>
                <a:t>Identify some key </a:t>
              </a:r>
              <a:r>
                <a:rPr lang="en-US" sz="1800">
                  <a:solidFill>
                    <a:schemeClr val="dk1"/>
                  </a:solidFill>
                  <a:latin typeface="Century Gothic"/>
                  <a:ea typeface="Century Gothic"/>
                  <a:cs typeface="Century Gothic"/>
                  <a:sym typeface="Century Gothic"/>
                </a:rPr>
                <a:t>trends</a:t>
              </a:r>
              <a:r>
                <a:rPr lang="en-US" sz="1800">
                  <a:solidFill>
                    <a:schemeClr val="dk1"/>
                  </a:solidFill>
                  <a:latin typeface="Century Gothic"/>
                  <a:ea typeface="Century Gothic"/>
                  <a:cs typeface="Century Gothic"/>
                  <a:sym typeface="Century Gothic"/>
                </a:rPr>
                <a:t> and patterns about the all the </a:t>
              </a:r>
              <a:r>
                <a:rPr lang="en-US" sz="1800">
                  <a:solidFill>
                    <a:schemeClr val="dk1"/>
                  </a:solidFill>
                  <a:latin typeface="Century Gothic"/>
                  <a:ea typeface="Century Gothic"/>
                  <a:cs typeface="Century Gothic"/>
                  <a:sym typeface="Century Gothic"/>
                </a:rPr>
                <a:t>bridges</a:t>
              </a:r>
              <a:r>
                <a:rPr lang="en-US" sz="1800">
                  <a:solidFill>
                    <a:schemeClr val="dk1"/>
                  </a:solidFill>
                  <a:latin typeface="Century Gothic"/>
                  <a:ea typeface="Century Gothic"/>
                  <a:cs typeface="Century Gothic"/>
                  <a:sym typeface="Century Gothic"/>
                </a:rPr>
                <a:t> in California</a:t>
              </a:r>
              <a:endParaRPr sz="1800">
                <a:solidFill>
                  <a:schemeClr val="dk1"/>
                </a:solidFill>
                <a:latin typeface="Century Gothic"/>
                <a:ea typeface="Century Gothic"/>
                <a:cs typeface="Century Gothic"/>
                <a:sym typeface="Century Gothic"/>
              </a:endParaRPr>
            </a:p>
          </p:txBody>
        </p:sp>
        <p:sp>
          <p:nvSpPr>
            <p:cNvPr id="176" name="Google Shape;176;p4"/>
            <p:cNvSpPr/>
            <p:nvPr/>
          </p:nvSpPr>
          <p:spPr>
            <a:xfrm>
              <a:off x="725090" y="620477"/>
              <a:ext cx="1050131" cy="1050131"/>
            </a:xfrm>
            <a:prstGeom prst="ellipse">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
            <p:cNvSpPr txBox="1"/>
            <p:nvPr/>
          </p:nvSpPr>
          <p:spPr>
            <a:xfrm>
              <a:off x="878878" y="774265"/>
              <a:ext cx="742555" cy="742555"/>
            </a:xfrm>
            <a:prstGeom prst="rect">
              <a:avLst/>
            </a:prstGeom>
            <a:noFill/>
            <a:ln>
              <a:noFill/>
            </a:ln>
          </p:spPr>
          <p:txBody>
            <a:bodyPr anchorCtr="0" anchor="ctr" bIns="12700" lIns="81850" spcFirstLastPara="1" rIns="81850" wrap="square" tIns="12700">
              <a:noAutofit/>
            </a:bodyPr>
            <a:lstStyle/>
            <a:p>
              <a:pPr indent="0" lvl="0" marL="0" marR="0" rtl="0" algn="ctr">
                <a:lnSpc>
                  <a:spcPct val="90000"/>
                </a:lnSpc>
                <a:spcBef>
                  <a:spcPts val="0"/>
                </a:spcBef>
                <a:spcAft>
                  <a:spcPts val="0"/>
                </a:spcAft>
                <a:buClr>
                  <a:schemeClr val="lt1"/>
                </a:buClr>
                <a:buSzPts val="4800"/>
                <a:buFont typeface="Century Gothic"/>
                <a:buNone/>
              </a:pPr>
              <a:r>
                <a:rPr lang="en-US" sz="4800">
                  <a:solidFill>
                    <a:schemeClr val="dk1"/>
                  </a:solidFill>
                  <a:latin typeface="Century Gothic"/>
                  <a:ea typeface="Century Gothic"/>
                  <a:cs typeface="Century Gothic"/>
                  <a:sym typeface="Century Gothic"/>
                </a:rPr>
                <a:t>1</a:t>
              </a:r>
              <a:endParaRPr>
                <a:solidFill>
                  <a:schemeClr val="dk1"/>
                </a:solidFill>
              </a:endParaRPr>
            </a:p>
          </p:txBody>
        </p:sp>
        <p:sp>
          <p:nvSpPr>
            <p:cNvPr id="178" name="Google Shape;178;p4"/>
            <p:cNvSpPr/>
            <p:nvPr/>
          </p:nvSpPr>
          <p:spPr>
            <a:xfrm>
              <a:off x="0" y="3770799"/>
              <a:ext cx="2500312" cy="72"/>
            </a:xfrm>
            <a:prstGeom prst="rect">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2750343" y="270433"/>
              <a:ext cx="2500312" cy="3500437"/>
            </a:xfrm>
            <a:prstGeom prst="rect">
              <a:avLst/>
            </a:prstGeom>
            <a:solidFill>
              <a:srgbClr val="E1EFCB">
                <a:alpha val="89803"/>
              </a:srgbClr>
            </a:solidFill>
            <a:ln cap="rnd" cmpd="sng" w="19050">
              <a:solidFill>
                <a:srgbClr val="E1EF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txBox="1"/>
            <p:nvPr/>
          </p:nvSpPr>
          <p:spPr>
            <a:xfrm>
              <a:off x="2750343" y="1600600"/>
              <a:ext cx="2500312" cy="2100262"/>
            </a:xfrm>
            <a:prstGeom prst="rect">
              <a:avLst/>
            </a:prstGeom>
            <a:noFill/>
            <a:ln>
              <a:noFill/>
            </a:ln>
          </p:spPr>
          <p:txBody>
            <a:bodyPr anchorCtr="0" anchor="t" bIns="330200" lIns="194925" spcFirstLastPara="1" rIns="194925" wrap="square" tIns="330200">
              <a:noAutofit/>
            </a:bodyPr>
            <a:lstStyle/>
            <a:p>
              <a:pPr indent="0" lvl="0" marL="0" marR="0" rtl="0" algn="l">
                <a:lnSpc>
                  <a:spcPct val="90000"/>
                </a:lnSpc>
                <a:spcBef>
                  <a:spcPts val="0"/>
                </a:spcBef>
                <a:spcAft>
                  <a:spcPts val="0"/>
                </a:spcAft>
                <a:buClr>
                  <a:schemeClr val="lt1"/>
                </a:buClr>
                <a:buSzPts val="1800"/>
                <a:buFont typeface="Century Gothic"/>
                <a:buNone/>
              </a:pPr>
              <a:r>
                <a:rPr lang="en-US" sz="1800">
                  <a:solidFill>
                    <a:schemeClr val="dk1"/>
                  </a:solidFill>
                  <a:latin typeface="Century Gothic"/>
                  <a:ea typeface="Century Gothic"/>
                  <a:cs typeface="Century Gothic"/>
                  <a:sym typeface="Century Gothic"/>
                </a:rPr>
                <a:t>Identify factors that influence influence bridge length and </a:t>
              </a:r>
              <a:r>
                <a:rPr lang="en-US" sz="1800">
                  <a:solidFill>
                    <a:schemeClr val="dk1"/>
                  </a:solidFill>
                  <a:latin typeface="Century Gothic"/>
                  <a:ea typeface="Century Gothic"/>
                  <a:cs typeface="Century Gothic"/>
                  <a:sym typeface="Century Gothic"/>
                </a:rPr>
                <a:t>bridge</a:t>
              </a:r>
              <a:r>
                <a:rPr lang="en-US" sz="1800">
                  <a:solidFill>
                    <a:schemeClr val="dk1"/>
                  </a:solidFill>
                  <a:latin typeface="Century Gothic"/>
                  <a:ea typeface="Century Gothic"/>
                  <a:cs typeface="Century Gothic"/>
                  <a:sym typeface="Century Gothic"/>
                </a:rPr>
                <a:t> conditions</a:t>
              </a:r>
              <a:endParaRPr>
                <a:solidFill>
                  <a:schemeClr val="dk1"/>
                </a:solidFill>
              </a:endParaRPr>
            </a:p>
          </p:txBody>
        </p:sp>
        <p:sp>
          <p:nvSpPr>
            <p:cNvPr id="181" name="Google Shape;181;p4"/>
            <p:cNvSpPr/>
            <p:nvPr/>
          </p:nvSpPr>
          <p:spPr>
            <a:xfrm>
              <a:off x="3475433" y="620477"/>
              <a:ext cx="1050131" cy="1050131"/>
            </a:xfrm>
            <a:prstGeom prst="ellipse">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txBox="1"/>
            <p:nvPr/>
          </p:nvSpPr>
          <p:spPr>
            <a:xfrm>
              <a:off x="3629221" y="774265"/>
              <a:ext cx="742555" cy="742555"/>
            </a:xfrm>
            <a:prstGeom prst="rect">
              <a:avLst/>
            </a:prstGeom>
            <a:noFill/>
            <a:ln>
              <a:noFill/>
            </a:ln>
          </p:spPr>
          <p:txBody>
            <a:bodyPr anchorCtr="0" anchor="ctr" bIns="12700" lIns="81850" spcFirstLastPara="1" rIns="81850" wrap="square" tIns="12700">
              <a:noAutofit/>
            </a:bodyPr>
            <a:lstStyle/>
            <a:p>
              <a:pPr indent="0" lvl="0" marL="0" marR="0" rtl="0" algn="ctr">
                <a:lnSpc>
                  <a:spcPct val="90000"/>
                </a:lnSpc>
                <a:spcBef>
                  <a:spcPts val="0"/>
                </a:spcBef>
                <a:spcAft>
                  <a:spcPts val="0"/>
                </a:spcAft>
                <a:buClr>
                  <a:schemeClr val="lt1"/>
                </a:buClr>
                <a:buSzPts val="4800"/>
                <a:buFont typeface="Century Gothic"/>
                <a:buNone/>
              </a:pPr>
              <a:r>
                <a:rPr lang="en-US" sz="4800">
                  <a:solidFill>
                    <a:schemeClr val="dk1"/>
                  </a:solidFill>
                  <a:latin typeface="Century Gothic"/>
                  <a:ea typeface="Century Gothic"/>
                  <a:cs typeface="Century Gothic"/>
                  <a:sym typeface="Century Gothic"/>
                </a:rPr>
                <a:t>2</a:t>
              </a:r>
              <a:endParaRPr>
                <a:solidFill>
                  <a:schemeClr val="dk1"/>
                </a:solidFill>
              </a:endParaRPr>
            </a:p>
          </p:txBody>
        </p:sp>
        <p:sp>
          <p:nvSpPr>
            <p:cNvPr id="183" name="Google Shape;183;p4"/>
            <p:cNvSpPr/>
            <p:nvPr/>
          </p:nvSpPr>
          <p:spPr>
            <a:xfrm>
              <a:off x="2750343" y="3770799"/>
              <a:ext cx="2500312" cy="72"/>
            </a:xfrm>
            <a:prstGeom prst="rect">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5500686" y="270433"/>
              <a:ext cx="2500312" cy="3500437"/>
            </a:xfrm>
            <a:prstGeom prst="rect">
              <a:avLst/>
            </a:prstGeom>
            <a:solidFill>
              <a:srgbClr val="E1EFCB">
                <a:alpha val="89803"/>
              </a:srgbClr>
            </a:solidFill>
            <a:ln cap="rnd" cmpd="sng" w="19050">
              <a:solidFill>
                <a:srgbClr val="E1EF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txBox="1"/>
            <p:nvPr/>
          </p:nvSpPr>
          <p:spPr>
            <a:xfrm>
              <a:off x="5500686" y="1600600"/>
              <a:ext cx="2500312" cy="2100262"/>
            </a:xfrm>
            <a:prstGeom prst="rect">
              <a:avLst/>
            </a:prstGeom>
            <a:noFill/>
            <a:ln>
              <a:noFill/>
            </a:ln>
          </p:spPr>
          <p:txBody>
            <a:bodyPr anchorCtr="0" anchor="t" bIns="330200" lIns="194925" spcFirstLastPara="1" rIns="194925" wrap="square" tIns="330200">
              <a:noAutofit/>
            </a:bodyPr>
            <a:lstStyle/>
            <a:p>
              <a:pPr indent="0" lvl="0" marL="0" marR="0" rtl="0" algn="l">
                <a:lnSpc>
                  <a:spcPct val="90000"/>
                </a:lnSpc>
                <a:spcBef>
                  <a:spcPts val="0"/>
                </a:spcBef>
                <a:spcAft>
                  <a:spcPts val="0"/>
                </a:spcAft>
                <a:buClr>
                  <a:schemeClr val="lt1"/>
                </a:buClr>
                <a:buSzPts val="1800"/>
                <a:buFont typeface="Century Gothic"/>
                <a:buNone/>
              </a:pPr>
              <a:r>
                <a:rPr lang="en-US" sz="1800">
                  <a:solidFill>
                    <a:schemeClr val="dk1"/>
                  </a:solidFill>
                  <a:latin typeface="Century Gothic"/>
                  <a:ea typeface="Century Gothic"/>
                  <a:cs typeface="Century Gothic"/>
                  <a:sym typeface="Century Gothic"/>
                </a:rPr>
                <a:t>Predict bridge conditions using machine learning models.</a:t>
              </a:r>
              <a:endParaRPr>
                <a:solidFill>
                  <a:schemeClr val="dk1"/>
                </a:solidFill>
              </a:endParaRPr>
            </a:p>
          </p:txBody>
        </p:sp>
        <p:sp>
          <p:nvSpPr>
            <p:cNvPr id="186" name="Google Shape;186;p4"/>
            <p:cNvSpPr/>
            <p:nvPr/>
          </p:nvSpPr>
          <p:spPr>
            <a:xfrm>
              <a:off x="6225777" y="620477"/>
              <a:ext cx="1050131" cy="1050131"/>
            </a:xfrm>
            <a:prstGeom prst="ellipse">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txBox="1"/>
            <p:nvPr/>
          </p:nvSpPr>
          <p:spPr>
            <a:xfrm>
              <a:off x="6379565" y="774265"/>
              <a:ext cx="742555" cy="742555"/>
            </a:xfrm>
            <a:prstGeom prst="rect">
              <a:avLst/>
            </a:prstGeom>
            <a:noFill/>
            <a:ln>
              <a:noFill/>
            </a:ln>
          </p:spPr>
          <p:txBody>
            <a:bodyPr anchorCtr="0" anchor="ctr" bIns="12700" lIns="81850" spcFirstLastPara="1" rIns="81850" wrap="square" tIns="12700">
              <a:noAutofit/>
            </a:bodyPr>
            <a:lstStyle/>
            <a:p>
              <a:pPr indent="0" lvl="0" marL="0" marR="0" rtl="0" algn="ctr">
                <a:lnSpc>
                  <a:spcPct val="90000"/>
                </a:lnSpc>
                <a:spcBef>
                  <a:spcPts val="0"/>
                </a:spcBef>
                <a:spcAft>
                  <a:spcPts val="0"/>
                </a:spcAft>
                <a:buClr>
                  <a:schemeClr val="lt1"/>
                </a:buClr>
                <a:buSzPts val="4800"/>
                <a:buFont typeface="Century Gothic"/>
                <a:buNone/>
              </a:pPr>
              <a:r>
                <a:rPr lang="en-US" sz="4800">
                  <a:solidFill>
                    <a:schemeClr val="dk1"/>
                  </a:solidFill>
                  <a:latin typeface="Century Gothic"/>
                  <a:ea typeface="Century Gothic"/>
                  <a:cs typeface="Century Gothic"/>
                  <a:sym typeface="Century Gothic"/>
                </a:rPr>
                <a:t>3</a:t>
              </a:r>
              <a:endParaRPr>
                <a:solidFill>
                  <a:schemeClr val="dk1"/>
                </a:solidFill>
              </a:endParaRPr>
            </a:p>
          </p:txBody>
        </p:sp>
        <p:sp>
          <p:nvSpPr>
            <p:cNvPr id="188" name="Google Shape;188;p4"/>
            <p:cNvSpPr/>
            <p:nvPr/>
          </p:nvSpPr>
          <p:spPr>
            <a:xfrm>
              <a:off x="5500686" y="3770799"/>
              <a:ext cx="2500312" cy="72"/>
            </a:xfrm>
            <a:prstGeom prst="rect">
              <a:avLst/>
            </a:prstGeom>
            <a:solidFill>
              <a:srgbClr val="ABD331"/>
            </a:solidFill>
            <a:ln cap="rnd" cmpd="sng" w="19050">
              <a:solidFill>
                <a:srgbClr val="ABD33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4"/>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03</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Project Timeline</a:t>
            </a:r>
            <a:endParaRPr/>
          </a:p>
        </p:txBody>
      </p:sp>
      <p:graphicFrame>
        <p:nvGraphicFramePr>
          <p:cNvPr id="195" name="Google Shape;195;p5"/>
          <p:cNvGraphicFramePr/>
          <p:nvPr/>
        </p:nvGraphicFramePr>
        <p:xfrm>
          <a:off x="827088" y="1637492"/>
          <a:ext cx="3000000" cy="3000000"/>
        </p:xfrm>
        <a:graphic>
          <a:graphicData uri="http://schemas.openxmlformats.org/drawingml/2006/table">
            <a:tbl>
              <a:tblPr bandRow="1" firstRow="1">
                <a:noFill/>
                <a:tableStyleId>{E8D0E89D-F07F-48D4-B967-C040EC5970DD}</a:tableStyleId>
              </a:tblPr>
              <a:tblGrid>
                <a:gridCol w="3293050"/>
                <a:gridCol w="3293050"/>
              </a:tblGrid>
              <a:tr h="460475">
                <a:tc>
                  <a:txBody>
                    <a:bodyPr/>
                    <a:lstStyle/>
                    <a:p>
                      <a:pPr indent="0" lvl="0" marL="0" marR="0" rtl="0" algn="ctr">
                        <a:spcBef>
                          <a:spcPts val="0"/>
                        </a:spcBef>
                        <a:spcAft>
                          <a:spcPts val="0"/>
                        </a:spcAft>
                        <a:buClr>
                          <a:schemeClr val="lt1"/>
                        </a:buClr>
                        <a:buSzPts val="1800"/>
                        <a:buFont typeface="Times New Roman"/>
                        <a:buNone/>
                      </a:pPr>
                      <a:r>
                        <a:rPr lang="en-US" sz="1800">
                          <a:solidFill>
                            <a:schemeClr val="dk1"/>
                          </a:solidFill>
                          <a:latin typeface="Times New Roman"/>
                          <a:ea typeface="Times New Roman"/>
                          <a:cs typeface="Times New Roman"/>
                          <a:sym typeface="Times New Roman"/>
                        </a:rPr>
                        <a:t>Task</a:t>
                      </a:r>
                      <a:endParaRPr b="1" sz="1800">
                        <a:solidFill>
                          <a:schemeClr val="dk1"/>
                        </a:solidFill>
                        <a:latin typeface="Times New Roman"/>
                        <a:ea typeface="Times New Roman"/>
                        <a:cs typeface="Times New Roman"/>
                        <a:sym typeface="Times New Roman"/>
                      </a:endParaRPr>
                    </a:p>
                  </a:txBody>
                  <a:tcPr marT="45725" marB="45725" marR="74575" marL="74575" anchor="ctr"/>
                </a:tc>
                <a:tc>
                  <a:txBody>
                    <a:bodyPr/>
                    <a:lstStyle/>
                    <a:p>
                      <a:pPr indent="0" lvl="0" marL="0" marR="0" rtl="0" algn="ctr">
                        <a:spcBef>
                          <a:spcPts val="0"/>
                        </a:spcBef>
                        <a:spcAft>
                          <a:spcPts val="0"/>
                        </a:spcAft>
                        <a:buClr>
                          <a:schemeClr val="lt1"/>
                        </a:buClr>
                        <a:buSzPts val="1800"/>
                        <a:buFont typeface="Times New Roman"/>
                        <a:buNone/>
                      </a:pPr>
                      <a:r>
                        <a:rPr lang="en-US" sz="1800">
                          <a:solidFill>
                            <a:schemeClr val="dk1"/>
                          </a:solidFill>
                          <a:latin typeface="Times New Roman"/>
                          <a:ea typeface="Times New Roman"/>
                          <a:cs typeface="Times New Roman"/>
                          <a:sym typeface="Times New Roman"/>
                        </a:rPr>
                        <a:t>Timeline</a:t>
                      </a:r>
                      <a:endParaRPr b="1" sz="1800">
                        <a:solidFill>
                          <a:schemeClr val="dk1"/>
                        </a:solidFill>
                        <a:latin typeface="Times New Roman"/>
                        <a:ea typeface="Times New Roman"/>
                        <a:cs typeface="Times New Roman"/>
                        <a:sym typeface="Times New Roman"/>
                      </a:endParaRPr>
                    </a:p>
                  </a:txBody>
                  <a:tcPr marT="45725" marB="45725" marR="74575" marL="745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Setup Databricks Environment</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10/27</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Data Cleaning</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11/02</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Work on the first draft of the final report</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11/07</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Data analysis using PySpark</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11/12</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Work on Project Presentation/Final Paper</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11/15</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Implementation of ML</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11/17</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Testing + Team Evaluation</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11/19</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Complete Final Report/Project Presentation</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lang="en-US" sz="1100">
                          <a:latin typeface="Times New Roman"/>
                          <a:ea typeface="Times New Roman"/>
                          <a:cs typeface="Times New Roman"/>
                          <a:sym typeface="Times New Roman"/>
                        </a:rPr>
                        <a:t>11/19</a:t>
                      </a:r>
                      <a:endParaRPr sz="1100">
                        <a:latin typeface="Times New Roman"/>
                        <a:ea typeface="Times New Roman"/>
                        <a:cs typeface="Times New Roman"/>
                        <a:sym typeface="Times New Roman"/>
                      </a:endParaRPr>
                    </a:p>
                  </a:txBody>
                  <a:tcPr marT="63500" marB="63500" marR="49075" marL="49075"/>
                </a:tc>
              </a:tr>
              <a:tr h="460475">
                <a:tc>
                  <a:txBody>
                    <a:bodyPr/>
                    <a:lstStyle/>
                    <a:p>
                      <a:pPr indent="0" lvl="0" marL="0" marR="0" rtl="0" algn="l">
                        <a:lnSpc>
                          <a:spcPct val="115000"/>
                        </a:lnSpc>
                        <a:spcBef>
                          <a:spcPts val="0"/>
                        </a:spcBef>
                        <a:spcAft>
                          <a:spcPts val="0"/>
                        </a:spcAft>
                        <a:buNone/>
                      </a:pPr>
                      <a:r>
                        <a:rPr b="1" lang="en-US" sz="1100">
                          <a:solidFill>
                            <a:srgbClr val="980000"/>
                          </a:solidFill>
                          <a:latin typeface="Times New Roman"/>
                          <a:ea typeface="Times New Roman"/>
                          <a:cs typeface="Times New Roman"/>
                          <a:sym typeface="Times New Roman"/>
                        </a:rPr>
                        <a:t>All the project deliverables are due</a:t>
                      </a:r>
                      <a:endParaRPr sz="1100">
                        <a:latin typeface="Times New Roman"/>
                        <a:ea typeface="Times New Roman"/>
                        <a:cs typeface="Times New Roman"/>
                        <a:sym typeface="Times New Roman"/>
                      </a:endParaRPr>
                    </a:p>
                  </a:txBody>
                  <a:tcPr marT="63500" marB="63500" marR="49075" marL="49075"/>
                </a:tc>
                <a:tc>
                  <a:txBody>
                    <a:bodyPr/>
                    <a:lstStyle/>
                    <a:p>
                      <a:pPr indent="0" lvl="0" marL="0" marR="0" rtl="0" algn="l">
                        <a:lnSpc>
                          <a:spcPct val="115000"/>
                        </a:lnSpc>
                        <a:spcBef>
                          <a:spcPts val="0"/>
                        </a:spcBef>
                        <a:spcAft>
                          <a:spcPts val="0"/>
                        </a:spcAft>
                        <a:buNone/>
                      </a:pPr>
                      <a:r>
                        <a:rPr b="1" lang="en-US" sz="1100">
                          <a:solidFill>
                            <a:srgbClr val="980000"/>
                          </a:solidFill>
                          <a:latin typeface="Times New Roman"/>
                          <a:ea typeface="Times New Roman"/>
                          <a:cs typeface="Times New Roman"/>
                          <a:sym typeface="Times New Roman"/>
                        </a:rPr>
                        <a:t>11/19</a:t>
                      </a:r>
                      <a:endParaRPr sz="1100">
                        <a:latin typeface="Times New Roman"/>
                        <a:ea typeface="Times New Roman"/>
                        <a:cs typeface="Times New Roman"/>
                        <a:sym typeface="Times New Roman"/>
                      </a:endParaRPr>
                    </a:p>
                  </a:txBody>
                  <a:tcPr marT="63500" marB="63500" marR="49075" marL="49075"/>
                </a:tc>
              </a:tr>
            </a:tbl>
          </a:graphicData>
        </a:graphic>
      </p:graphicFrame>
      <p:sp>
        <p:nvSpPr>
          <p:cNvPr id="196" name="Google Shape;196;p5"/>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04</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359550" y="452825"/>
            <a:ext cx="4637700" cy="936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131250"/>
              <a:buFont typeface="Times New Roman"/>
              <a:buNone/>
            </a:pPr>
            <a:r>
              <a:rPr lang="en-US" sz="3200">
                <a:latin typeface="Times New Roman"/>
                <a:ea typeface="Times New Roman"/>
                <a:cs typeface="Times New Roman"/>
                <a:sym typeface="Times New Roman"/>
              </a:rPr>
              <a:t>Dataset : i</a:t>
            </a:r>
            <a:r>
              <a:rPr lang="en-US" sz="2800">
                <a:latin typeface="Times New Roman"/>
                <a:ea typeface="Times New Roman"/>
                <a:cs typeface="Times New Roman"/>
                <a:sym typeface="Times New Roman"/>
              </a:rPr>
              <a:t>nfoBridge Portal by the Federal Highway Administration.</a:t>
            </a:r>
            <a:endParaRPr sz="3200"/>
          </a:p>
        </p:txBody>
      </p:sp>
      <p:sp>
        <p:nvSpPr>
          <p:cNvPr id="202" name="Google Shape;202;p6"/>
          <p:cNvSpPr txBox="1"/>
          <p:nvPr>
            <p:ph idx="1" type="body"/>
          </p:nvPr>
        </p:nvSpPr>
        <p:spPr>
          <a:xfrm>
            <a:off x="359550" y="1936450"/>
            <a:ext cx="4269600" cy="4364700"/>
          </a:xfrm>
          <a:prstGeom prst="rect">
            <a:avLst/>
          </a:prstGeom>
          <a:noFill/>
          <a:ln>
            <a:noFill/>
          </a:ln>
        </p:spPr>
        <p:txBody>
          <a:bodyPr anchorCtr="0" anchor="t" bIns="45700" lIns="91425" spcFirstLastPara="1" rIns="91425" wrap="square" tIns="45700">
            <a:normAutofit/>
          </a:bodyPr>
          <a:lstStyle/>
          <a:p>
            <a:pPr indent="-349758" lvl="0" marL="342900" rtl="0" algn="just">
              <a:spcBef>
                <a:spcPts val="1000"/>
              </a:spcBef>
              <a:spcAft>
                <a:spcPts val="0"/>
              </a:spcAft>
              <a:buSzPts val="1440"/>
              <a:buChar char="►"/>
            </a:pPr>
            <a:r>
              <a:rPr b="1" lang="en-US" sz="1800">
                <a:latin typeface="Times New Roman"/>
                <a:ea typeface="Times New Roman"/>
                <a:cs typeface="Times New Roman"/>
                <a:sym typeface="Times New Roman"/>
              </a:rPr>
              <a:t>Title</a:t>
            </a:r>
            <a:r>
              <a:rPr lang="en-US" sz="1800">
                <a:latin typeface="Times New Roman"/>
                <a:ea typeface="Times New Roman"/>
                <a:cs typeface="Times New Roman"/>
                <a:sym typeface="Times New Roman"/>
              </a:rPr>
              <a:t> : InfoBridge Portal by the Federal Highway Administration.</a:t>
            </a:r>
            <a:endParaRPr sz="1800">
              <a:latin typeface="Times New Roman"/>
              <a:ea typeface="Times New Roman"/>
              <a:cs typeface="Times New Roman"/>
              <a:sym typeface="Times New Roman"/>
            </a:endParaRPr>
          </a:p>
          <a:p>
            <a:pPr indent="-372618" lvl="0" marL="342900" rtl="0" algn="just">
              <a:spcBef>
                <a:spcPts val="1000"/>
              </a:spcBef>
              <a:spcAft>
                <a:spcPts val="0"/>
              </a:spcAft>
              <a:buSzPts val="1800"/>
              <a:buFont typeface="Times New Roman"/>
              <a:buChar char="►"/>
            </a:pPr>
            <a:r>
              <a:rPr lang="en-US" sz="1800">
                <a:latin typeface="Times New Roman"/>
                <a:ea typeface="Times New Roman"/>
                <a:cs typeface="Times New Roman"/>
                <a:sym typeface="Times New Roman"/>
              </a:rPr>
              <a:t>Limited to just bridges in California</a:t>
            </a:r>
            <a:endParaRPr sz="1800">
              <a:latin typeface="Times New Roman"/>
              <a:ea typeface="Times New Roman"/>
              <a:cs typeface="Times New Roman"/>
              <a:sym typeface="Times New Roman"/>
            </a:endParaRPr>
          </a:p>
          <a:p>
            <a:pPr indent="-372618" lvl="0" marL="342900" rtl="0" algn="just">
              <a:spcBef>
                <a:spcPts val="1000"/>
              </a:spcBef>
              <a:spcAft>
                <a:spcPts val="0"/>
              </a:spcAft>
              <a:buSzPts val="1800"/>
              <a:buFont typeface="Times New Roman"/>
              <a:buChar char="►"/>
            </a:pPr>
            <a:r>
              <a:rPr b="1" lang="en-US" sz="1800">
                <a:latin typeface="Times New Roman"/>
                <a:ea typeface="Times New Roman"/>
                <a:cs typeface="Times New Roman"/>
                <a:sym typeface="Times New Roman"/>
              </a:rPr>
              <a:t>Dataset Characteristics </a:t>
            </a:r>
            <a:r>
              <a:rPr lang="en-US" sz="1800">
                <a:latin typeface="Times New Roman"/>
                <a:ea typeface="Times New Roman"/>
                <a:cs typeface="Times New Roman"/>
                <a:sym typeface="Times New Roman"/>
              </a:rPr>
              <a:t>: </a:t>
            </a:r>
            <a:endParaRPr/>
          </a:p>
          <a:p>
            <a:pPr indent="0" lvl="0" marL="0" rtl="0" algn="just">
              <a:spcBef>
                <a:spcPts val="1000"/>
              </a:spcBef>
              <a:spcAft>
                <a:spcPts val="0"/>
              </a:spcAft>
              <a:buSzPts val="1440"/>
              <a:buNone/>
            </a:pPr>
            <a:r>
              <a:rPr lang="en-US" sz="1800">
                <a:latin typeface="Times New Roman"/>
                <a:ea typeface="Times New Roman"/>
                <a:cs typeface="Times New Roman"/>
                <a:sym typeface="Times New Roman"/>
              </a:rPr>
              <a:t>       Data points : 25000</a:t>
            </a:r>
            <a:endParaRPr/>
          </a:p>
          <a:p>
            <a:pPr indent="0" lvl="0" marL="0" rtl="0" algn="just">
              <a:spcBef>
                <a:spcPts val="1000"/>
              </a:spcBef>
              <a:spcAft>
                <a:spcPts val="0"/>
              </a:spcAft>
              <a:buSzPts val="1440"/>
              <a:buNone/>
            </a:pPr>
            <a:r>
              <a:rPr lang="en-US" sz="1800">
                <a:latin typeface="Times New Roman"/>
                <a:ea typeface="Times New Roman"/>
                <a:cs typeface="Times New Roman"/>
                <a:sym typeface="Times New Roman"/>
              </a:rPr>
              <a:t>       Data Features : 20</a:t>
            </a:r>
            <a:endParaRPr sz="1800">
              <a:latin typeface="Times New Roman"/>
              <a:ea typeface="Times New Roman"/>
              <a:cs typeface="Times New Roman"/>
              <a:sym typeface="Times New Roman"/>
            </a:endParaRPr>
          </a:p>
          <a:p>
            <a:pPr indent="-349758" lvl="0" marL="342900" rtl="0" algn="just">
              <a:spcBef>
                <a:spcPts val="1000"/>
              </a:spcBef>
              <a:spcAft>
                <a:spcPts val="0"/>
              </a:spcAft>
              <a:buSzPts val="1440"/>
              <a:buChar char="►"/>
            </a:pPr>
            <a:r>
              <a:rPr lang="en-US" sz="1800">
                <a:latin typeface="Times New Roman"/>
                <a:ea typeface="Times New Roman"/>
                <a:cs typeface="Times New Roman"/>
                <a:sym typeface="Times New Roman"/>
              </a:rPr>
              <a:t>Columns used for analysis include County Main, Main Span Material, Bridge Age, etc. </a:t>
            </a:r>
            <a:endParaRPr sz="1800">
              <a:latin typeface="Times New Roman"/>
              <a:ea typeface="Times New Roman"/>
              <a:cs typeface="Times New Roman"/>
              <a:sym typeface="Times New Roman"/>
            </a:endParaRPr>
          </a:p>
          <a:p>
            <a:pPr indent="-349758" lvl="0" marL="342900" rtl="0" algn="just">
              <a:spcBef>
                <a:spcPts val="1000"/>
              </a:spcBef>
              <a:spcAft>
                <a:spcPts val="0"/>
              </a:spcAft>
              <a:buSzPts val="1440"/>
              <a:buChar char="►"/>
            </a:pPr>
            <a:r>
              <a:rPr b="1" lang="en-US" sz="1800">
                <a:latin typeface="Times New Roman"/>
                <a:ea typeface="Times New Roman"/>
                <a:cs typeface="Times New Roman"/>
                <a:sym typeface="Times New Roman"/>
              </a:rPr>
              <a:t>Source</a:t>
            </a:r>
            <a:r>
              <a:rPr b="1" lang="en-US" sz="1800">
                <a:solidFill>
                  <a:schemeClr val="lt1"/>
                </a:solidFill>
                <a:latin typeface="Times New Roman"/>
                <a:ea typeface="Times New Roman"/>
                <a:cs typeface="Times New Roman"/>
                <a:sym typeface="Times New Roman"/>
              </a:rPr>
              <a:t>: </a:t>
            </a:r>
            <a:r>
              <a:rPr lang="en-US" sz="1800" u="sng">
                <a:solidFill>
                  <a:schemeClr val="lt1"/>
                </a:solidFill>
                <a:latin typeface="Times New Roman"/>
                <a:ea typeface="Times New Roman"/>
                <a:cs typeface="Times New Roman"/>
                <a:sym typeface="Times New Roman"/>
                <a:hlinkClick r:id="rId3">
                  <a:extLst>
                    <a:ext uri="{A12FA001-AC4F-418D-AE19-62706E023703}">
                      <ahyp:hlinkClr val="tx"/>
                    </a:ext>
                  </a:extLst>
                </a:hlinkClick>
              </a:rPr>
              <a:t>https://infobridge.fhwa.dot.gov/Data/SelectedBridges</a:t>
            </a:r>
            <a:endParaRPr sz="1800">
              <a:solidFill>
                <a:schemeClr val="lt1"/>
              </a:solidFill>
              <a:latin typeface="Times New Roman"/>
              <a:ea typeface="Times New Roman"/>
              <a:cs typeface="Times New Roman"/>
              <a:sym typeface="Times New Roman"/>
            </a:endParaRPr>
          </a:p>
        </p:txBody>
      </p:sp>
      <p:sp>
        <p:nvSpPr>
          <p:cNvPr id="203" name="Google Shape;203;p6"/>
          <p:cNvSpPr txBox="1"/>
          <p:nvPr/>
        </p:nvSpPr>
        <p:spPr>
          <a:xfrm>
            <a:off x="-1136650" y="2273300"/>
            <a:ext cx="30480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4" name="Google Shape;204;p6"/>
          <p:cNvSpPr/>
          <p:nvPr/>
        </p:nvSpPr>
        <p:spPr>
          <a:xfrm>
            <a:off x="4837382" y="-1"/>
            <a:ext cx="419604"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5" name="Google Shape;205;p6"/>
          <p:cNvSpPr/>
          <p:nvPr/>
        </p:nvSpPr>
        <p:spPr>
          <a:xfrm>
            <a:off x="5665604" y="0"/>
            <a:ext cx="34788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6"/>
          <p:cNvSpPr/>
          <p:nvPr/>
        </p:nvSpPr>
        <p:spPr>
          <a:xfrm rot="-5400000">
            <a:off x="2072552" y="2924729"/>
            <a:ext cx="6858000" cy="1008540"/>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6"/>
          <p:cNvSpPr/>
          <p:nvPr/>
        </p:nvSpPr>
        <p:spPr>
          <a:xfrm>
            <a:off x="7831836" y="0"/>
            <a:ext cx="514500" cy="1143000"/>
          </a:xfrm>
          <a:prstGeom prst="rect">
            <a:avLst/>
          </a:prstGeom>
          <a:solidFill>
            <a:schemeClr val="accent1"/>
          </a:solidFill>
          <a:ln>
            <a:noFill/>
          </a:ln>
          <a:effectLst>
            <a:outerShdw blurRad="38100" rotWithShape="0" dir="5400000" dist="25400">
              <a:srgbClr val="000000">
                <a:alpha val="4471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Database" id="208" name="Google Shape;208;p6"/>
          <p:cNvPicPr preferRelativeResize="0"/>
          <p:nvPr/>
        </p:nvPicPr>
        <p:blipFill rotWithShape="1">
          <a:blip r:embed="rId4">
            <a:alphaModFix/>
          </a:blip>
          <a:srcRect b="0" l="0" r="0" t="0"/>
          <a:stretch/>
        </p:blipFill>
        <p:spPr>
          <a:xfrm>
            <a:off x="5110250" y="1591650"/>
            <a:ext cx="4364700" cy="4364700"/>
          </a:xfrm>
          <a:prstGeom prst="rect">
            <a:avLst/>
          </a:prstGeom>
          <a:noFill/>
          <a:ln>
            <a:noFill/>
          </a:ln>
        </p:spPr>
      </p:pic>
      <p:sp>
        <p:nvSpPr>
          <p:cNvPr id="209" name="Google Shape;209;p6"/>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05</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7"/>
          <p:cNvSpPr txBox="1"/>
          <p:nvPr>
            <p:ph type="title"/>
          </p:nvPr>
        </p:nvSpPr>
        <p:spPr>
          <a:xfrm>
            <a:off x="416400" y="381000"/>
            <a:ext cx="8425500" cy="1124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The System</a:t>
            </a:r>
            <a:endParaRPr/>
          </a:p>
        </p:txBody>
      </p:sp>
      <p:sp>
        <p:nvSpPr>
          <p:cNvPr id="215" name="Google Shape;215;p7"/>
          <p:cNvSpPr txBox="1"/>
          <p:nvPr>
            <p:ph idx="1" type="body"/>
          </p:nvPr>
        </p:nvSpPr>
        <p:spPr>
          <a:xfrm>
            <a:off x="596000" y="1332600"/>
            <a:ext cx="4395000" cy="5315700"/>
          </a:xfrm>
          <a:prstGeom prst="rect">
            <a:avLst/>
          </a:prstGeom>
          <a:noFill/>
          <a:ln>
            <a:noFill/>
          </a:ln>
        </p:spPr>
        <p:txBody>
          <a:bodyPr anchorCtr="0" anchor="t" bIns="45700" lIns="91425" spcFirstLastPara="1" rIns="91425" wrap="square" tIns="45700">
            <a:normAutofit fontScale="25000" lnSpcReduction="20000"/>
          </a:bodyPr>
          <a:lstStyle/>
          <a:p>
            <a:pPr indent="-373380" lvl="0" marL="342900" rtl="0" algn="l">
              <a:spcBef>
                <a:spcPts val="0"/>
              </a:spcBef>
              <a:spcAft>
                <a:spcPts val="0"/>
              </a:spcAft>
              <a:buSzPct val="100000"/>
              <a:buChar char="►"/>
            </a:pPr>
            <a:r>
              <a:rPr b="1" lang="en-US" sz="6400">
                <a:latin typeface="Times New Roman"/>
                <a:ea typeface="Times New Roman"/>
                <a:cs typeface="Times New Roman"/>
                <a:sym typeface="Times New Roman"/>
              </a:rPr>
              <a:t>Big Data Platform Used; Azure Databricks: </a:t>
            </a:r>
            <a:r>
              <a:rPr lang="en-US" sz="6400">
                <a:latin typeface="Times New Roman"/>
                <a:ea typeface="Times New Roman"/>
                <a:cs typeface="Times New Roman"/>
                <a:sym typeface="Times New Roman"/>
              </a:rPr>
              <a:t>Fo</a:t>
            </a:r>
            <a:r>
              <a:rPr lang="en-US" sz="6400">
                <a:latin typeface="Times New Roman"/>
                <a:ea typeface="Times New Roman"/>
                <a:cs typeface="Times New Roman"/>
                <a:sym typeface="Times New Roman"/>
              </a:rPr>
              <a:t>r</a:t>
            </a:r>
            <a:r>
              <a:rPr lang="en-US" sz="6400">
                <a:latin typeface="Times New Roman"/>
                <a:ea typeface="Times New Roman"/>
                <a:cs typeface="Times New Roman"/>
                <a:sym typeface="Times New Roman"/>
              </a:rPr>
              <a:t> big data processing and analytics.ntegrated environment for data cleaning, exploration, and machine learning.</a:t>
            </a:r>
            <a:endParaRPr sz="6400">
              <a:latin typeface="Times New Roman"/>
              <a:ea typeface="Times New Roman"/>
              <a:cs typeface="Times New Roman"/>
              <a:sym typeface="Times New Roman"/>
            </a:endParaRPr>
          </a:p>
          <a:p>
            <a:pPr indent="0" lvl="0" marL="342900" rtl="0" algn="l">
              <a:spcBef>
                <a:spcPts val="0"/>
              </a:spcBef>
              <a:spcAft>
                <a:spcPts val="0"/>
              </a:spcAft>
              <a:buNone/>
            </a:pPr>
            <a:r>
              <a:t/>
            </a:r>
            <a:endParaRPr sz="6400">
              <a:latin typeface="Times New Roman"/>
              <a:ea typeface="Times New Roman"/>
              <a:cs typeface="Times New Roman"/>
              <a:sym typeface="Times New Roman"/>
            </a:endParaRPr>
          </a:p>
          <a:p>
            <a:pPr indent="-373380" lvl="0" marL="342900" rtl="0" algn="l">
              <a:spcBef>
                <a:spcPts val="0"/>
              </a:spcBef>
              <a:spcAft>
                <a:spcPts val="0"/>
              </a:spcAft>
              <a:buSzPct val="100000"/>
              <a:buFont typeface="Times New Roman"/>
              <a:buChar char="►"/>
            </a:pPr>
            <a:r>
              <a:rPr b="1" lang="en-US" sz="6400">
                <a:latin typeface="Times New Roman"/>
                <a:ea typeface="Times New Roman"/>
                <a:cs typeface="Times New Roman"/>
                <a:sym typeface="Times New Roman"/>
              </a:rPr>
              <a:t>PySpark</a:t>
            </a:r>
            <a:r>
              <a:rPr lang="en-US" sz="6400">
                <a:latin typeface="Times New Roman"/>
                <a:ea typeface="Times New Roman"/>
                <a:cs typeface="Times New Roman"/>
                <a:sym typeface="Times New Roman"/>
              </a:rPr>
              <a:t>: For distributed data processing and handling large datasets.</a:t>
            </a:r>
            <a:r>
              <a:rPr lang="en-US" sz="6400"/>
              <a:t> </a:t>
            </a:r>
            <a:r>
              <a:rPr lang="en-US" sz="6400">
                <a:latin typeface="Times New Roman"/>
                <a:ea typeface="Times New Roman"/>
                <a:cs typeface="Times New Roman"/>
                <a:sym typeface="Times New Roman"/>
              </a:rPr>
              <a:t>Enabled efficient data cleaning, transformation, and feature engineering.</a:t>
            </a:r>
            <a:endParaRPr sz="6400">
              <a:latin typeface="Times New Roman"/>
              <a:ea typeface="Times New Roman"/>
              <a:cs typeface="Times New Roman"/>
              <a:sym typeface="Times New Roman"/>
            </a:endParaRPr>
          </a:p>
          <a:p>
            <a:pPr indent="0" lvl="0" marL="342900" rtl="0" algn="l">
              <a:spcBef>
                <a:spcPts val="0"/>
              </a:spcBef>
              <a:spcAft>
                <a:spcPts val="0"/>
              </a:spcAft>
              <a:buNone/>
            </a:pPr>
            <a:r>
              <a:t/>
            </a:r>
            <a:endParaRPr sz="6400">
              <a:latin typeface="Times New Roman"/>
              <a:ea typeface="Times New Roman"/>
              <a:cs typeface="Times New Roman"/>
              <a:sym typeface="Times New Roman"/>
            </a:endParaRPr>
          </a:p>
          <a:p>
            <a:pPr indent="-373380" lvl="0" marL="342900" rtl="0" algn="l">
              <a:spcBef>
                <a:spcPts val="0"/>
              </a:spcBef>
              <a:spcAft>
                <a:spcPts val="0"/>
              </a:spcAft>
              <a:buSzPct val="100000"/>
              <a:buFont typeface="Times New Roman"/>
              <a:buChar char="►"/>
            </a:pPr>
            <a:r>
              <a:rPr b="1" lang="en-US" sz="6400">
                <a:latin typeface="Times New Roman"/>
                <a:ea typeface="Times New Roman"/>
                <a:cs typeface="Times New Roman"/>
                <a:sym typeface="Times New Roman"/>
              </a:rPr>
              <a:t>Spark Mllib</a:t>
            </a:r>
            <a:r>
              <a:rPr lang="en-US" sz="6400">
                <a:latin typeface="Times New Roman"/>
                <a:ea typeface="Times New Roman"/>
                <a:cs typeface="Times New Roman"/>
                <a:sym typeface="Times New Roman"/>
              </a:rPr>
              <a:t>: Used for implementing clustering and regression.</a:t>
            </a:r>
            <a:r>
              <a:rPr lang="en-US" sz="6400"/>
              <a:t> </a:t>
            </a:r>
            <a:r>
              <a:rPr lang="en-US" sz="6400">
                <a:latin typeface="Times New Roman"/>
                <a:ea typeface="Times New Roman"/>
                <a:cs typeface="Times New Roman"/>
                <a:sym typeface="Times New Roman"/>
              </a:rPr>
              <a:t>Optimized for scalability and performance.</a:t>
            </a:r>
            <a:endParaRPr sz="6400">
              <a:latin typeface="Times New Roman"/>
              <a:ea typeface="Times New Roman"/>
              <a:cs typeface="Times New Roman"/>
              <a:sym typeface="Times New Roman"/>
            </a:endParaRPr>
          </a:p>
          <a:p>
            <a:pPr indent="0" lvl="0" marL="342900" rtl="0" algn="l">
              <a:spcBef>
                <a:spcPts val="0"/>
              </a:spcBef>
              <a:spcAft>
                <a:spcPts val="0"/>
              </a:spcAft>
              <a:buNone/>
            </a:pPr>
            <a:r>
              <a:t/>
            </a:r>
            <a:endParaRPr sz="6400">
              <a:latin typeface="Times New Roman"/>
              <a:ea typeface="Times New Roman"/>
              <a:cs typeface="Times New Roman"/>
              <a:sym typeface="Times New Roman"/>
            </a:endParaRPr>
          </a:p>
          <a:p>
            <a:pPr indent="-373380" lvl="0" marL="342900" rtl="0" algn="l">
              <a:spcBef>
                <a:spcPts val="0"/>
              </a:spcBef>
              <a:spcAft>
                <a:spcPts val="0"/>
              </a:spcAft>
              <a:buSzPct val="100000"/>
              <a:buFont typeface="Times New Roman"/>
              <a:buChar char="►"/>
            </a:pPr>
            <a:r>
              <a:rPr b="1" lang="en-US" sz="6400">
                <a:latin typeface="Times New Roman"/>
                <a:ea typeface="Times New Roman"/>
                <a:cs typeface="Times New Roman"/>
                <a:sym typeface="Times New Roman"/>
              </a:rPr>
              <a:t>NoSQL Database (Databricks DBFS)</a:t>
            </a:r>
            <a:r>
              <a:rPr lang="en-US" sz="6400">
                <a:latin typeface="Times New Roman"/>
                <a:ea typeface="Times New Roman"/>
                <a:cs typeface="Times New Roman"/>
                <a:sym typeface="Times New Roman"/>
              </a:rPr>
              <a:t>: Provided storage for the bridge dataset.</a:t>
            </a:r>
            <a:endParaRPr sz="6400"/>
          </a:p>
          <a:p>
            <a:pPr indent="0" lvl="0" marL="342900" rtl="0" algn="l">
              <a:spcBef>
                <a:spcPts val="0"/>
              </a:spcBef>
              <a:spcAft>
                <a:spcPts val="0"/>
              </a:spcAft>
              <a:buNone/>
            </a:pPr>
            <a:r>
              <a:t/>
            </a:r>
            <a:endParaRPr sz="6400"/>
          </a:p>
          <a:p>
            <a:pPr indent="-373380" lvl="0" marL="342900" rtl="0" algn="l">
              <a:lnSpc>
                <a:spcPct val="90000"/>
              </a:lnSpc>
              <a:spcBef>
                <a:spcPts val="1000"/>
              </a:spcBef>
              <a:spcAft>
                <a:spcPts val="0"/>
              </a:spcAft>
              <a:buSzPct val="100000"/>
              <a:buChar char="►"/>
            </a:pPr>
            <a:r>
              <a:rPr b="1" lang="en-US" sz="6400">
                <a:latin typeface="Times New Roman"/>
                <a:ea typeface="Times New Roman"/>
                <a:cs typeface="Times New Roman"/>
                <a:sym typeface="Times New Roman"/>
              </a:rPr>
              <a:t>Techniques:</a:t>
            </a:r>
            <a:endParaRPr b="1" sz="6400">
              <a:latin typeface="Times New Roman"/>
              <a:ea typeface="Times New Roman"/>
              <a:cs typeface="Times New Roman"/>
              <a:sym typeface="Times New Roman"/>
            </a:endParaRPr>
          </a:p>
          <a:p>
            <a:pPr indent="0" lvl="0" marL="342900" rtl="0" algn="l">
              <a:lnSpc>
                <a:spcPct val="90000"/>
              </a:lnSpc>
              <a:spcBef>
                <a:spcPts val="1000"/>
              </a:spcBef>
              <a:spcAft>
                <a:spcPts val="0"/>
              </a:spcAft>
              <a:buNone/>
            </a:pP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 Data Cleaning &amp; Processing</a:t>
            </a:r>
            <a:endParaRPr sz="6400"/>
          </a:p>
          <a:p>
            <a:pPr indent="0" lvl="0" marL="0" rtl="0" algn="l">
              <a:lnSpc>
                <a:spcPct val="90000"/>
              </a:lnSpc>
              <a:spcBef>
                <a:spcPts val="1000"/>
              </a:spcBef>
              <a:spcAft>
                <a:spcPts val="0"/>
              </a:spcAft>
              <a:buSzPct val="70000"/>
              <a:buNone/>
            </a:pPr>
            <a:r>
              <a:rPr lang="en-US" sz="6400">
                <a:latin typeface="Times New Roman"/>
                <a:ea typeface="Times New Roman"/>
                <a:cs typeface="Times New Roman"/>
                <a:sym typeface="Times New Roman"/>
              </a:rPr>
              <a:t>        Exploratory Data Analysis</a:t>
            </a:r>
            <a:endParaRPr sz="6400"/>
          </a:p>
          <a:p>
            <a:pPr indent="0" lvl="0" marL="0" rtl="0" algn="l">
              <a:lnSpc>
                <a:spcPct val="90000"/>
              </a:lnSpc>
              <a:spcBef>
                <a:spcPts val="1000"/>
              </a:spcBef>
              <a:spcAft>
                <a:spcPts val="0"/>
              </a:spcAft>
              <a:buSzPct val="70000"/>
              <a:buNone/>
            </a:pPr>
            <a:r>
              <a:rPr lang="en-US" sz="6400">
                <a:latin typeface="Times New Roman"/>
                <a:ea typeface="Times New Roman"/>
                <a:cs typeface="Times New Roman"/>
                <a:sym typeface="Times New Roman"/>
              </a:rPr>
              <a:t>        Machine Learning Models</a:t>
            </a:r>
            <a:endParaRPr sz="6400"/>
          </a:p>
          <a:p>
            <a:pPr indent="0" lvl="0" marL="0" rtl="0" algn="l">
              <a:lnSpc>
                <a:spcPct val="90000"/>
              </a:lnSpc>
              <a:spcBef>
                <a:spcPts val="1000"/>
              </a:spcBef>
              <a:spcAft>
                <a:spcPts val="0"/>
              </a:spcAft>
              <a:buSzPct val="70000"/>
              <a:buNone/>
            </a:pPr>
            <a:r>
              <a:rPr lang="en-US" sz="6400">
                <a:latin typeface="Times New Roman"/>
                <a:ea typeface="Times New Roman"/>
                <a:cs typeface="Times New Roman"/>
                <a:sym typeface="Times New Roman"/>
              </a:rPr>
              <a:t>        Visualizations</a:t>
            </a:r>
            <a:endParaRPr sz="6400"/>
          </a:p>
          <a:p>
            <a:pPr indent="0" lvl="0" marL="0" rtl="0" algn="l">
              <a:lnSpc>
                <a:spcPct val="90000"/>
              </a:lnSpc>
              <a:spcBef>
                <a:spcPts val="1000"/>
              </a:spcBef>
              <a:spcAft>
                <a:spcPts val="0"/>
              </a:spcAft>
              <a:buSzPct val="80000"/>
              <a:buNone/>
            </a:pPr>
            <a:r>
              <a:t/>
            </a:r>
            <a:endParaRPr sz="1600"/>
          </a:p>
          <a:p>
            <a:pPr indent="0" lvl="0" marL="0" rtl="0" algn="l">
              <a:lnSpc>
                <a:spcPct val="90000"/>
              </a:lnSpc>
              <a:spcBef>
                <a:spcPts val="1000"/>
              </a:spcBef>
              <a:spcAft>
                <a:spcPts val="0"/>
              </a:spcAft>
              <a:buSzPct val="80000"/>
              <a:buNone/>
            </a:pPr>
            <a:r>
              <a:t/>
            </a:r>
            <a:endParaRPr sz="1600"/>
          </a:p>
        </p:txBody>
      </p:sp>
      <p:sp>
        <p:nvSpPr>
          <p:cNvPr id="216" name="Google Shape;216;p7"/>
          <p:cNvSpPr/>
          <p:nvPr/>
        </p:nvSpPr>
        <p:spPr>
          <a:xfrm>
            <a:off x="4837382" y="-1"/>
            <a:ext cx="419604"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7"/>
          <p:cNvSpPr/>
          <p:nvPr/>
        </p:nvSpPr>
        <p:spPr>
          <a:xfrm>
            <a:off x="5665204" y="0"/>
            <a:ext cx="34788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7"/>
          <p:cNvSpPr/>
          <p:nvPr/>
        </p:nvSpPr>
        <p:spPr>
          <a:xfrm rot="-5400000">
            <a:off x="2072552" y="2924729"/>
            <a:ext cx="6858000" cy="1008540"/>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9" name="Google Shape;219;p7"/>
          <p:cNvSpPr/>
          <p:nvPr/>
        </p:nvSpPr>
        <p:spPr>
          <a:xfrm>
            <a:off x="5620013" y="770150"/>
            <a:ext cx="3153900" cy="66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highlight>
                  <a:srgbClr val="ABD331"/>
                </a:highlight>
                <a:latin typeface="Century Gothic"/>
                <a:ea typeface="Century Gothic"/>
                <a:cs typeface="Century Gothic"/>
                <a:sym typeface="Century Gothic"/>
              </a:rPr>
              <a:t>Collect Data From InfoBridge Portal</a:t>
            </a:r>
            <a:endParaRPr>
              <a:highlight>
                <a:srgbClr val="ABD331"/>
              </a:highlight>
              <a:latin typeface="Century Gothic"/>
              <a:ea typeface="Century Gothic"/>
              <a:cs typeface="Century Gothic"/>
              <a:sym typeface="Century Gothic"/>
            </a:endParaRPr>
          </a:p>
        </p:txBody>
      </p:sp>
      <p:sp>
        <p:nvSpPr>
          <p:cNvPr id="220" name="Google Shape;220;p7"/>
          <p:cNvSpPr/>
          <p:nvPr/>
        </p:nvSpPr>
        <p:spPr>
          <a:xfrm>
            <a:off x="5620013" y="1970913"/>
            <a:ext cx="3153900" cy="66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highlight>
                  <a:srgbClr val="ABD331"/>
                </a:highlight>
                <a:latin typeface="Century Gothic"/>
                <a:ea typeface="Century Gothic"/>
                <a:cs typeface="Century Gothic"/>
                <a:sym typeface="Century Gothic"/>
              </a:rPr>
              <a:t>Store Data in Databricks DBFS</a:t>
            </a:r>
            <a:endParaRPr>
              <a:highlight>
                <a:srgbClr val="ABD331"/>
              </a:highlight>
              <a:latin typeface="Century Gothic"/>
              <a:ea typeface="Century Gothic"/>
              <a:cs typeface="Century Gothic"/>
              <a:sym typeface="Century Gothic"/>
            </a:endParaRPr>
          </a:p>
        </p:txBody>
      </p:sp>
      <p:sp>
        <p:nvSpPr>
          <p:cNvPr id="221" name="Google Shape;221;p7"/>
          <p:cNvSpPr/>
          <p:nvPr/>
        </p:nvSpPr>
        <p:spPr>
          <a:xfrm>
            <a:off x="5620013" y="3171675"/>
            <a:ext cx="3153900" cy="66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highlight>
                  <a:srgbClr val="ABD331"/>
                </a:highlight>
                <a:latin typeface="Century Gothic"/>
                <a:ea typeface="Century Gothic"/>
                <a:cs typeface="Century Gothic"/>
                <a:sym typeface="Century Gothic"/>
              </a:rPr>
              <a:t>Process Data Using PySpark</a:t>
            </a:r>
            <a:endParaRPr>
              <a:highlight>
                <a:srgbClr val="ABD331"/>
              </a:highlight>
              <a:latin typeface="Century Gothic"/>
              <a:ea typeface="Century Gothic"/>
              <a:cs typeface="Century Gothic"/>
              <a:sym typeface="Century Gothic"/>
            </a:endParaRPr>
          </a:p>
        </p:txBody>
      </p:sp>
      <p:sp>
        <p:nvSpPr>
          <p:cNvPr id="222" name="Google Shape;222;p7"/>
          <p:cNvSpPr/>
          <p:nvPr/>
        </p:nvSpPr>
        <p:spPr>
          <a:xfrm>
            <a:off x="5620013" y="5573200"/>
            <a:ext cx="3153900" cy="66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highlight>
                  <a:srgbClr val="ABD331"/>
                </a:highlight>
                <a:latin typeface="Century Gothic"/>
                <a:ea typeface="Century Gothic"/>
                <a:cs typeface="Century Gothic"/>
                <a:sym typeface="Century Gothic"/>
              </a:rPr>
              <a:t>Draw Conclusions</a:t>
            </a:r>
            <a:endParaRPr>
              <a:highlight>
                <a:srgbClr val="ABD331"/>
              </a:highlight>
              <a:latin typeface="Century Gothic"/>
              <a:ea typeface="Century Gothic"/>
              <a:cs typeface="Century Gothic"/>
              <a:sym typeface="Century Gothic"/>
            </a:endParaRPr>
          </a:p>
        </p:txBody>
      </p:sp>
      <p:sp>
        <p:nvSpPr>
          <p:cNvPr id="223" name="Google Shape;223;p7"/>
          <p:cNvSpPr/>
          <p:nvPr/>
        </p:nvSpPr>
        <p:spPr>
          <a:xfrm>
            <a:off x="5620013" y="4372438"/>
            <a:ext cx="3153900" cy="66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highlight>
                  <a:srgbClr val="ABD331"/>
                </a:highlight>
                <a:latin typeface="Century Gothic"/>
                <a:ea typeface="Century Gothic"/>
                <a:cs typeface="Century Gothic"/>
                <a:sym typeface="Century Gothic"/>
              </a:rPr>
              <a:t>Create Machine Learning Models</a:t>
            </a:r>
            <a:endParaRPr>
              <a:highlight>
                <a:srgbClr val="ABD331"/>
              </a:highlight>
              <a:latin typeface="Century Gothic"/>
              <a:ea typeface="Century Gothic"/>
              <a:cs typeface="Century Gothic"/>
              <a:sym typeface="Century Gothic"/>
            </a:endParaRPr>
          </a:p>
        </p:txBody>
      </p:sp>
      <p:cxnSp>
        <p:nvCxnSpPr>
          <p:cNvPr id="224" name="Google Shape;224;p7"/>
          <p:cNvCxnSpPr>
            <a:stCxn id="219" idx="2"/>
            <a:endCxn id="220" idx="0"/>
          </p:cNvCxnSpPr>
          <p:nvPr/>
        </p:nvCxnSpPr>
        <p:spPr>
          <a:xfrm>
            <a:off x="7196963" y="1430450"/>
            <a:ext cx="0" cy="540600"/>
          </a:xfrm>
          <a:prstGeom prst="straightConnector1">
            <a:avLst/>
          </a:prstGeom>
          <a:noFill/>
          <a:ln cap="flat" cmpd="sng" w="9525">
            <a:solidFill>
              <a:schemeClr val="dk2"/>
            </a:solidFill>
            <a:prstDash val="solid"/>
            <a:round/>
            <a:headEnd len="med" w="med" type="none"/>
            <a:tailEnd len="med" w="med" type="triangle"/>
          </a:ln>
        </p:spPr>
      </p:cxnSp>
      <p:cxnSp>
        <p:nvCxnSpPr>
          <p:cNvPr id="225" name="Google Shape;225;p7"/>
          <p:cNvCxnSpPr>
            <a:stCxn id="220" idx="2"/>
            <a:endCxn id="221" idx="0"/>
          </p:cNvCxnSpPr>
          <p:nvPr/>
        </p:nvCxnSpPr>
        <p:spPr>
          <a:xfrm>
            <a:off x="7196963" y="2631213"/>
            <a:ext cx="0" cy="540600"/>
          </a:xfrm>
          <a:prstGeom prst="straightConnector1">
            <a:avLst/>
          </a:prstGeom>
          <a:noFill/>
          <a:ln cap="flat" cmpd="sng" w="9525">
            <a:solidFill>
              <a:schemeClr val="dk2"/>
            </a:solidFill>
            <a:prstDash val="solid"/>
            <a:round/>
            <a:headEnd len="med" w="med" type="none"/>
            <a:tailEnd len="med" w="med" type="triangle"/>
          </a:ln>
        </p:spPr>
      </p:cxnSp>
      <p:cxnSp>
        <p:nvCxnSpPr>
          <p:cNvPr id="226" name="Google Shape;226;p7"/>
          <p:cNvCxnSpPr>
            <a:stCxn id="221" idx="2"/>
            <a:endCxn id="223" idx="0"/>
          </p:cNvCxnSpPr>
          <p:nvPr/>
        </p:nvCxnSpPr>
        <p:spPr>
          <a:xfrm>
            <a:off x="7196963" y="3831975"/>
            <a:ext cx="0" cy="540600"/>
          </a:xfrm>
          <a:prstGeom prst="straightConnector1">
            <a:avLst/>
          </a:prstGeom>
          <a:noFill/>
          <a:ln cap="flat" cmpd="sng" w="9525">
            <a:solidFill>
              <a:schemeClr val="dk2"/>
            </a:solidFill>
            <a:prstDash val="solid"/>
            <a:round/>
            <a:headEnd len="med" w="med" type="none"/>
            <a:tailEnd len="med" w="med" type="triangle"/>
          </a:ln>
        </p:spPr>
      </p:cxnSp>
      <p:cxnSp>
        <p:nvCxnSpPr>
          <p:cNvPr id="227" name="Google Shape;227;p7"/>
          <p:cNvCxnSpPr>
            <a:stCxn id="223" idx="2"/>
            <a:endCxn id="222" idx="0"/>
          </p:cNvCxnSpPr>
          <p:nvPr/>
        </p:nvCxnSpPr>
        <p:spPr>
          <a:xfrm>
            <a:off x="7196963" y="5032738"/>
            <a:ext cx="0" cy="540600"/>
          </a:xfrm>
          <a:prstGeom prst="straightConnector1">
            <a:avLst/>
          </a:prstGeom>
          <a:noFill/>
          <a:ln cap="flat" cmpd="sng" w="9525">
            <a:solidFill>
              <a:schemeClr val="dk2"/>
            </a:solidFill>
            <a:prstDash val="solid"/>
            <a:round/>
            <a:headEnd len="med" w="med" type="none"/>
            <a:tailEnd len="med" w="med" type="triangle"/>
          </a:ln>
        </p:spPr>
      </p:cxnSp>
      <p:sp>
        <p:nvSpPr>
          <p:cNvPr id="228" name="Google Shape;228;p7"/>
          <p:cNvSpPr txBox="1"/>
          <p:nvPr/>
        </p:nvSpPr>
        <p:spPr>
          <a:xfrm>
            <a:off x="7881650" y="0"/>
            <a:ext cx="495000" cy="5685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06</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9"/>
          <p:cNvSpPr txBox="1"/>
          <p:nvPr>
            <p:ph type="title"/>
          </p:nvPr>
        </p:nvSpPr>
        <p:spPr>
          <a:xfrm>
            <a:off x="299925" y="251100"/>
            <a:ext cx="7749000" cy="735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Results and Analysis</a:t>
            </a:r>
            <a:endParaRPr/>
          </a:p>
        </p:txBody>
      </p:sp>
      <p:sp>
        <p:nvSpPr>
          <p:cNvPr id="234" name="Google Shape;234;p9"/>
          <p:cNvSpPr txBox="1"/>
          <p:nvPr/>
        </p:nvSpPr>
        <p:spPr>
          <a:xfrm>
            <a:off x="4187825" y="986408"/>
            <a:ext cx="3289935" cy="2237105"/>
          </a:xfrm>
          <a:prstGeom prst="rect">
            <a:avLst/>
          </a:prstGeom>
          <a:noFill/>
          <a:ln>
            <a:noFill/>
          </a:ln>
        </p:spPr>
        <p:txBody>
          <a:bodyPr anchorCtr="0" anchor="t" bIns="45700" lIns="91425" spcFirstLastPara="1" rIns="91425" wrap="square" tIns="45700">
            <a:noAutofit/>
          </a:bodyPr>
          <a:lstStyle/>
          <a:p>
            <a:pPr indent="-184150" lvl="0" marL="285750" marR="0" rtl="0" algn="l">
              <a:spcBef>
                <a:spcPts val="0"/>
              </a:spcBef>
              <a:spcAft>
                <a:spcPts val="0"/>
              </a:spcAft>
              <a:buClr>
                <a:schemeClr val="lt1"/>
              </a:buClr>
              <a:buSzPts val="1600"/>
              <a:buFont typeface="Arial"/>
              <a:buNone/>
            </a:pPr>
            <a:r>
              <a:t/>
            </a:r>
            <a:endParaRPr sz="1600">
              <a:solidFill>
                <a:schemeClr val="lt1"/>
              </a:solidFill>
              <a:latin typeface="Century Gothic"/>
              <a:ea typeface="Century Gothic"/>
              <a:cs typeface="Century Gothic"/>
              <a:sym typeface="Century Gothic"/>
            </a:endParaRPr>
          </a:p>
        </p:txBody>
      </p:sp>
      <p:sp>
        <p:nvSpPr>
          <p:cNvPr id="235" name="Google Shape;235;p9"/>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07</a:t>
            </a:r>
            <a:endParaRPr sz="2000">
              <a:solidFill>
                <a:schemeClr val="lt1"/>
              </a:solidFill>
              <a:latin typeface="Century Gothic"/>
              <a:ea typeface="Century Gothic"/>
              <a:cs typeface="Century Gothic"/>
              <a:sym typeface="Century Gothic"/>
            </a:endParaRPr>
          </a:p>
        </p:txBody>
      </p:sp>
      <p:pic>
        <p:nvPicPr>
          <p:cNvPr id="236" name="Google Shape;236;p9"/>
          <p:cNvPicPr preferRelativeResize="0"/>
          <p:nvPr/>
        </p:nvPicPr>
        <p:blipFill>
          <a:blip r:embed="rId3">
            <a:alphaModFix/>
          </a:blip>
          <a:stretch>
            <a:fillRect/>
          </a:stretch>
        </p:blipFill>
        <p:spPr>
          <a:xfrm>
            <a:off x="5125736" y="1357825"/>
            <a:ext cx="3436264" cy="983100"/>
          </a:xfrm>
          <a:prstGeom prst="rect">
            <a:avLst/>
          </a:prstGeom>
          <a:noFill/>
          <a:ln>
            <a:noFill/>
          </a:ln>
        </p:spPr>
      </p:pic>
      <p:pic>
        <p:nvPicPr>
          <p:cNvPr id="237" name="Google Shape;237;p9"/>
          <p:cNvPicPr preferRelativeResize="0"/>
          <p:nvPr/>
        </p:nvPicPr>
        <p:blipFill>
          <a:blip r:embed="rId4">
            <a:alphaModFix/>
          </a:blip>
          <a:stretch>
            <a:fillRect/>
          </a:stretch>
        </p:blipFill>
        <p:spPr>
          <a:xfrm>
            <a:off x="5033100" y="2535395"/>
            <a:ext cx="3792601" cy="3678530"/>
          </a:xfrm>
          <a:prstGeom prst="rect">
            <a:avLst/>
          </a:prstGeom>
          <a:noFill/>
          <a:ln>
            <a:noFill/>
          </a:ln>
        </p:spPr>
      </p:pic>
      <p:sp>
        <p:nvSpPr>
          <p:cNvPr id="238" name="Google Shape;238;p9"/>
          <p:cNvSpPr txBox="1"/>
          <p:nvPr/>
        </p:nvSpPr>
        <p:spPr>
          <a:xfrm>
            <a:off x="395225" y="1357950"/>
            <a:ext cx="3792600" cy="983100"/>
          </a:xfrm>
          <a:prstGeom prst="rect">
            <a:avLst/>
          </a:prstGeom>
          <a:noFill/>
          <a:ln>
            <a:noFill/>
          </a:ln>
        </p:spPr>
        <p:txBody>
          <a:bodyPr anchorCtr="0" anchor="t" bIns="45700" lIns="91425" spcFirstLastPara="1" rIns="91425" wrap="square" tIns="45700">
            <a:noAutofit/>
          </a:bodyPr>
          <a:lstStyle/>
          <a:p>
            <a:pPr indent="-273050" lvl="0" marL="285750" marR="0" rtl="0" algn="l">
              <a:spcBef>
                <a:spcPts val="0"/>
              </a:spcBef>
              <a:spcAft>
                <a:spcPts val="0"/>
              </a:spcAft>
              <a:buClr>
                <a:schemeClr val="lt1"/>
              </a:buClr>
              <a:buSzPts val="1600"/>
              <a:buChar char="•"/>
            </a:pPr>
            <a:r>
              <a:rPr lang="en-US" sz="1600">
                <a:solidFill>
                  <a:schemeClr val="lt1"/>
                </a:solidFill>
              </a:rPr>
              <a:t>Used PySpark to pre-process, clean, group and summarize the data</a:t>
            </a:r>
            <a:endParaRPr sz="1600">
              <a:solidFill>
                <a:schemeClr val="lt1"/>
              </a:solidFill>
            </a:endParaRPr>
          </a:p>
          <a:p>
            <a:pPr indent="0" lvl="0" marL="457200" marR="0" rtl="0" algn="l">
              <a:spcBef>
                <a:spcPts val="0"/>
              </a:spcBef>
              <a:spcAft>
                <a:spcPts val="0"/>
              </a:spcAft>
              <a:buNone/>
            </a:pPr>
            <a:r>
              <a:t/>
            </a:r>
            <a:endParaRPr sz="1600">
              <a:solidFill>
                <a:schemeClr val="lt1"/>
              </a:solidFill>
            </a:endParaRPr>
          </a:p>
          <a:p>
            <a:pPr indent="-273050" lvl="0" marL="285750" marR="0" rtl="0" algn="l">
              <a:spcBef>
                <a:spcPts val="0"/>
              </a:spcBef>
              <a:spcAft>
                <a:spcPts val="0"/>
              </a:spcAft>
              <a:buClr>
                <a:schemeClr val="lt1"/>
              </a:buClr>
              <a:buSzPts val="1600"/>
              <a:buChar char="•"/>
            </a:pPr>
            <a:r>
              <a:rPr lang="en-US" sz="1600">
                <a:solidFill>
                  <a:schemeClr val="lt1"/>
                </a:solidFill>
              </a:rPr>
              <a:t>Some of the summaries are listed on the slide</a:t>
            </a:r>
            <a:endParaRPr sz="1600">
              <a:solidFill>
                <a:schemeClr val="lt1"/>
              </a:solidFill>
            </a:endParaRPr>
          </a:p>
        </p:txBody>
      </p:sp>
      <p:pic>
        <p:nvPicPr>
          <p:cNvPr id="239" name="Google Shape;239;p9"/>
          <p:cNvPicPr preferRelativeResize="0"/>
          <p:nvPr/>
        </p:nvPicPr>
        <p:blipFill rotWithShape="1">
          <a:blip r:embed="rId5">
            <a:alphaModFix/>
          </a:blip>
          <a:srcRect b="0" l="0" r="18771" t="0"/>
          <a:stretch/>
        </p:blipFill>
        <p:spPr>
          <a:xfrm>
            <a:off x="395225" y="2907250"/>
            <a:ext cx="4372099" cy="33066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0"/>
          <p:cNvSpPr txBox="1"/>
          <p:nvPr>
            <p:ph type="title"/>
          </p:nvPr>
        </p:nvSpPr>
        <p:spPr>
          <a:xfrm>
            <a:off x="352900" y="384275"/>
            <a:ext cx="7220400" cy="752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Results and Analysis</a:t>
            </a:r>
            <a:endParaRPr/>
          </a:p>
        </p:txBody>
      </p:sp>
      <p:sp>
        <p:nvSpPr>
          <p:cNvPr id="245" name="Google Shape;245;p10"/>
          <p:cNvSpPr txBox="1"/>
          <p:nvPr/>
        </p:nvSpPr>
        <p:spPr>
          <a:xfrm>
            <a:off x="244250" y="1872450"/>
            <a:ext cx="2011200" cy="4142100"/>
          </a:xfrm>
          <a:prstGeom prst="rect">
            <a:avLst/>
          </a:prstGeom>
          <a:noFill/>
          <a:ln>
            <a:noFill/>
          </a:ln>
        </p:spPr>
        <p:txBody>
          <a:bodyPr anchorCtr="0" anchor="t" bIns="45700" lIns="91425" spcFirstLastPara="1" rIns="91425" wrap="square" tIns="45700">
            <a:noAutofit/>
          </a:bodyPr>
          <a:lstStyle/>
          <a:p>
            <a:pPr indent="-298450" lvl="0" marL="285750" marR="0" rtl="0" algn="l">
              <a:spcBef>
                <a:spcPts val="0"/>
              </a:spcBef>
              <a:spcAft>
                <a:spcPts val="0"/>
              </a:spcAft>
              <a:buClr>
                <a:schemeClr val="lt1"/>
              </a:buClr>
              <a:buSzPts val="2000"/>
              <a:buFont typeface="Arial"/>
              <a:buChar char="•"/>
            </a:pPr>
            <a:r>
              <a:rPr lang="en-US" sz="1600">
                <a:solidFill>
                  <a:schemeClr val="lt1"/>
                </a:solidFill>
              </a:rPr>
              <a:t>We identified the top 20 </a:t>
            </a:r>
            <a:r>
              <a:rPr lang="en-US" sz="1600">
                <a:solidFill>
                  <a:schemeClr val="lt1"/>
                </a:solidFill>
              </a:rPr>
              <a:t>cities</a:t>
            </a:r>
            <a:r>
              <a:rPr lang="en-US" sz="1600">
                <a:solidFill>
                  <a:schemeClr val="lt1"/>
                </a:solidFill>
              </a:rPr>
              <a:t> with </a:t>
            </a:r>
            <a:r>
              <a:rPr lang="en-US" sz="1600">
                <a:solidFill>
                  <a:schemeClr val="lt1"/>
                </a:solidFill>
              </a:rPr>
              <a:t>the</a:t>
            </a:r>
            <a:r>
              <a:rPr lang="en-US" sz="1600">
                <a:solidFill>
                  <a:schemeClr val="lt1"/>
                </a:solidFill>
              </a:rPr>
              <a:t> most number of bridges</a:t>
            </a:r>
            <a:endParaRPr sz="1600">
              <a:solidFill>
                <a:schemeClr val="lt1"/>
              </a:solidFill>
            </a:endParaRPr>
          </a:p>
          <a:p>
            <a:pPr indent="0" lvl="0" marL="457200" marR="0" rtl="0" algn="l">
              <a:spcBef>
                <a:spcPts val="0"/>
              </a:spcBef>
              <a:spcAft>
                <a:spcPts val="0"/>
              </a:spcAft>
              <a:buNone/>
            </a:pPr>
            <a:r>
              <a:t/>
            </a:r>
            <a:endParaRPr sz="1600">
              <a:solidFill>
                <a:schemeClr val="lt1"/>
              </a:solidFill>
            </a:endParaRPr>
          </a:p>
          <a:p>
            <a:pPr indent="-273050" lvl="0" marL="285750" marR="0" rtl="0" algn="l">
              <a:spcBef>
                <a:spcPts val="0"/>
              </a:spcBef>
              <a:spcAft>
                <a:spcPts val="0"/>
              </a:spcAft>
              <a:buClr>
                <a:schemeClr val="lt1"/>
              </a:buClr>
              <a:buSzPts val="1600"/>
              <a:buChar char="•"/>
            </a:pPr>
            <a:r>
              <a:rPr lang="en-US" sz="1600">
                <a:solidFill>
                  <a:schemeClr val="lt1"/>
                </a:solidFill>
              </a:rPr>
              <a:t>We dropped “No Place Code”</a:t>
            </a:r>
            <a:endParaRPr sz="1600">
              <a:solidFill>
                <a:schemeClr val="lt1"/>
              </a:solidFill>
            </a:endParaRPr>
          </a:p>
          <a:p>
            <a:pPr indent="0" lvl="0" marL="457200" marR="0" rtl="0" algn="l">
              <a:spcBef>
                <a:spcPts val="0"/>
              </a:spcBef>
              <a:spcAft>
                <a:spcPts val="0"/>
              </a:spcAft>
              <a:buNone/>
            </a:pPr>
            <a:r>
              <a:t/>
            </a:r>
            <a:endParaRPr sz="1600">
              <a:solidFill>
                <a:schemeClr val="lt1"/>
              </a:solidFill>
            </a:endParaRPr>
          </a:p>
          <a:p>
            <a:pPr indent="-273050" lvl="0" marL="285750" marR="0" rtl="0" algn="l">
              <a:spcBef>
                <a:spcPts val="0"/>
              </a:spcBef>
              <a:spcAft>
                <a:spcPts val="0"/>
              </a:spcAft>
              <a:buClr>
                <a:schemeClr val="lt1"/>
              </a:buClr>
              <a:buSzPts val="1600"/>
              <a:buChar char="•"/>
            </a:pPr>
            <a:r>
              <a:rPr lang="en-US" sz="1600">
                <a:solidFill>
                  <a:schemeClr val="lt1"/>
                </a:solidFill>
              </a:rPr>
              <a:t>Los Angeles, San Diego and San Jose are the top 3 cities</a:t>
            </a:r>
            <a:endParaRPr sz="1600">
              <a:solidFill>
                <a:schemeClr val="lt1"/>
              </a:solidFill>
            </a:endParaRPr>
          </a:p>
        </p:txBody>
      </p:sp>
      <p:pic>
        <p:nvPicPr>
          <p:cNvPr id="246" name="Google Shape;246;p10"/>
          <p:cNvPicPr preferRelativeResize="0"/>
          <p:nvPr/>
        </p:nvPicPr>
        <p:blipFill>
          <a:blip r:embed="rId3">
            <a:alphaModFix/>
          </a:blip>
          <a:stretch>
            <a:fillRect/>
          </a:stretch>
        </p:blipFill>
        <p:spPr>
          <a:xfrm>
            <a:off x="2448813" y="1760325"/>
            <a:ext cx="6456138" cy="4142099"/>
          </a:xfrm>
          <a:prstGeom prst="rect">
            <a:avLst/>
          </a:prstGeom>
          <a:noFill/>
          <a:ln>
            <a:noFill/>
          </a:ln>
        </p:spPr>
      </p:pic>
      <p:sp>
        <p:nvSpPr>
          <p:cNvPr id="247" name="Google Shape;247;p10"/>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08</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1"/>
          <p:cNvSpPr txBox="1"/>
          <p:nvPr>
            <p:ph type="title"/>
          </p:nvPr>
        </p:nvSpPr>
        <p:spPr>
          <a:xfrm>
            <a:off x="574875" y="194950"/>
            <a:ext cx="7291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Results and Analysis</a:t>
            </a:r>
            <a:endParaRPr/>
          </a:p>
        </p:txBody>
      </p:sp>
      <p:sp>
        <p:nvSpPr>
          <p:cNvPr id="253" name="Google Shape;253;p11"/>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09</a:t>
            </a:r>
            <a:endParaRPr sz="2000">
              <a:solidFill>
                <a:schemeClr val="lt1"/>
              </a:solidFill>
              <a:latin typeface="Century Gothic"/>
              <a:ea typeface="Century Gothic"/>
              <a:cs typeface="Century Gothic"/>
              <a:sym typeface="Century Gothic"/>
            </a:endParaRPr>
          </a:p>
        </p:txBody>
      </p:sp>
      <p:sp>
        <p:nvSpPr>
          <p:cNvPr id="254" name="Google Shape;254;p11"/>
          <p:cNvSpPr txBox="1"/>
          <p:nvPr/>
        </p:nvSpPr>
        <p:spPr>
          <a:xfrm>
            <a:off x="372600" y="1515850"/>
            <a:ext cx="2451300" cy="5067000"/>
          </a:xfrm>
          <a:prstGeom prst="rect">
            <a:avLst/>
          </a:prstGeom>
          <a:noFill/>
          <a:ln>
            <a:noFill/>
          </a:ln>
        </p:spPr>
        <p:txBody>
          <a:bodyPr anchorCtr="0" anchor="t" bIns="45700" lIns="91425" spcFirstLastPara="1" rIns="91425" wrap="square" tIns="45700">
            <a:noAutofit/>
          </a:bodyPr>
          <a:lstStyle/>
          <a:p>
            <a:pPr indent="-298450" lvl="0" marL="285750" marR="0" rtl="0" algn="l">
              <a:spcBef>
                <a:spcPts val="0"/>
              </a:spcBef>
              <a:spcAft>
                <a:spcPts val="0"/>
              </a:spcAft>
              <a:buClr>
                <a:schemeClr val="lt1"/>
              </a:buClr>
              <a:buSzPts val="2000"/>
              <a:buFont typeface="Arial"/>
              <a:buChar char="•"/>
            </a:pPr>
            <a:r>
              <a:rPr lang="en-US" sz="1600">
                <a:solidFill>
                  <a:schemeClr val="lt1"/>
                </a:solidFill>
              </a:rPr>
              <a:t>We identified the main span materials used in Top 5 cities in California with the most bridges</a:t>
            </a:r>
            <a:endParaRPr sz="1600">
              <a:solidFill>
                <a:schemeClr val="lt1"/>
              </a:solidFill>
            </a:endParaRPr>
          </a:p>
          <a:p>
            <a:pPr indent="0" lvl="0" marL="457200" marR="0" rtl="0" algn="l">
              <a:spcBef>
                <a:spcPts val="0"/>
              </a:spcBef>
              <a:spcAft>
                <a:spcPts val="0"/>
              </a:spcAft>
              <a:buNone/>
            </a:pPr>
            <a:r>
              <a:t/>
            </a:r>
            <a:endParaRPr sz="1600">
              <a:solidFill>
                <a:schemeClr val="lt1"/>
              </a:solidFill>
            </a:endParaRPr>
          </a:p>
          <a:p>
            <a:pPr indent="-273050" lvl="0" marL="285750" marR="0" rtl="0" algn="l">
              <a:spcBef>
                <a:spcPts val="0"/>
              </a:spcBef>
              <a:spcAft>
                <a:spcPts val="0"/>
              </a:spcAft>
              <a:buClr>
                <a:schemeClr val="lt1"/>
              </a:buClr>
              <a:buSzPts val="1600"/>
              <a:buChar char="•"/>
            </a:pPr>
            <a:r>
              <a:rPr lang="en-US" sz="1600">
                <a:solidFill>
                  <a:schemeClr val="lt1"/>
                </a:solidFill>
              </a:rPr>
              <a:t>Concrete Continuous/Prestressed are the two most commonly used materials for bridges</a:t>
            </a:r>
            <a:endParaRPr sz="1600">
              <a:solidFill>
                <a:schemeClr val="lt1"/>
              </a:solidFill>
            </a:endParaRPr>
          </a:p>
          <a:p>
            <a:pPr indent="0" lvl="0" marL="457200" marR="0" rtl="0" algn="l">
              <a:spcBef>
                <a:spcPts val="0"/>
              </a:spcBef>
              <a:spcAft>
                <a:spcPts val="0"/>
              </a:spcAft>
              <a:buNone/>
            </a:pPr>
            <a:r>
              <a:t/>
            </a:r>
            <a:endParaRPr sz="1600">
              <a:solidFill>
                <a:schemeClr val="lt1"/>
              </a:solidFill>
            </a:endParaRPr>
          </a:p>
          <a:p>
            <a:pPr indent="-273050" lvl="0" marL="285750" marR="0" rtl="0" algn="l">
              <a:spcBef>
                <a:spcPts val="0"/>
              </a:spcBef>
              <a:spcAft>
                <a:spcPts val="0"/>
              </a:spcAft>
              <a:buClr>
                <a:schemeClr val="lt1"/>
              </a:buClr>
              <a:buSzPts val="1600"/>
              <a:buChar char="•"/>
            </a:pPr>
            <a:r>
              <a:rPr lang="en-US" sz="1600">
                <a:solidFill>
                  <a:schemeClr val="lt1"/>
                </a:solidFill>
              </a:rPr>
              <a:t>Except for Los Angeles!!</a:t>
            </a:r>
            <a:endParaRPr sz="1600">
              <a:solidFill>
                <a:schemeClr val="lt1"/>
              </a:solidFill>
            </a:endParaRPr>
          </a:p>
        </p:txBody>
      </p:sp>
      <p:pic>
        <p:nvPicPr>
          <p:cNvPr id="255" name="Google Shape;255;p11"/>
          <p:cNvPicPr preferRelativeResize="0"/>
          <p:nvPr/>
        </p:nvPicPr>
        <p:blipFill>
          <a:blip r:embed="rId3">
            <a:alphaModFix/>
          </a:blip>
          <a:stretch>
            <a:fillRect/>
          </a:stretch>
        </p:blipFill>
        <p:spPr>
          <a:xfrm>
            <a:off x="2933850" y="1649900"/>
            <a:ext cx="5966074" cy="3906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ph type="title"/>
          </p:nvPr>
        </p:nvSpPr>
        <p:spPr>
          <a:xfrm>
            <a:off x="150475" y="214000"/>
            <a:ext cx="7424100" cy="924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82A222"/>
              </a:buClr>
              <a:buSzPct val="100000"/>
              <a:buFont typeface="Century Gothic"/>
              <a:buNone/>
            </a:pPr>
            <a:r>
              <a:rPr lang="en-US" sz="2800">
                <a:solidFill>
                  <a:srgbClr val="82A222"/>
                </a:solidFill>
              </a:rPr>
              <a:t>Predicting Structure Length Based on Number of Spans</a:t>
            </a:r>
            <a:endParaRPr sz="2800">
              <a:solidFill>
                <a:srgbClr val="82A222"/>
              </a:solidFill>
            </a:endParaRPr>
          </a:p>
        </p:txBody>
      </p:sp>
      <p:sp>
        <p:nvSpPr>
          <p:cNvPr id="261" name="Google Shape;261;p13"/>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10</a:t>
            </a:r>
            <a:endParaRPr sz="2000">
              <a:solidFill>
                <a:schemeClr val="lt1"/>
              </a:solidFill>
              <a:latin typeface="Century Gothic"/>
              <a:ea typeface="Century Gothic"/>
              <a:cs typeface="Century Gothic"/>
              <a:sym typeface="Century Gothic"/>
            </a:endParaRPr>
          </a:p>
        </p:txBody>
      </p:sp>
      <p:pic>
        <p:nvPicPr>
          <p:cNvPr id="262" name="Google Shape;262;p13"/>
          <p:cNvPicPr preferRelativeResize="0"/>
          <p:nvPr/>
        </p:nvPicPr>
        <p:blipFill>
          <a:blip r:embed="rId3">
            <a:alphaModFix/>
          </a:blip>
          <a:stretch>
            <a:fillRect/>
          </a:stretch>
        </p:blipFill>
        <p:spPr>
          <a:xfrm>
            <a:off x="2823900" y="1678225"/>
            <a:ext cx="5721452" cy="3280978"/>
          </a:xfrm>
          <a:prstGeom prst="rect">
            <a:avLst/>
          </a:prstGeom>
          <a:noFill/>
          <a:ln>
            <a:noFill/>
          </a:ln>
        </p:spPr>
      </p:pic>
      <p:sp>
        <p:nvSpPr>
          <p:cNvPr id="263" name="Google Shape;263;p13"/>
          <p:cNvSpPr txBox="1"/>
          <p:nvPr/>
        </p:nvSpPr>
        <p:spPr>
          <a:xfrm>
            <a:off x="372600" y="1515850"/>
            <a:ext cx="2451300" cy="50670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lt1"/>
              </a:buClr>
              <a:buSzPts val="1600"/>
              <a:buChar char="●"/>
            </a:pPr>
            <a:r>
              <a:rPr lang="en-US" sz="1600">
                <a:solidFill>
                  <a:schemeClr val="lt1"/>
                </a:solidFill>
              </a:rPr>
              <a:t>T</a:t>
            </a:r>
            <a:r>
              <a:rPr lang="en-US" sz="1600">
                <a:solidFill>
                  <a:schemeClr val="lt1"/>
                </a:solidFill>
              </a:rPr>
              <a:t>he model is trained to predict the structure length of a bridge based on the number of spans in its main unit using a Random Forest Regressor. </a:t>
            </a:r>
            <a:endParaRPr sz="1600">
              <a:solidFill>
                <a:schemeClr val="lt1"/>
              </a:solidFill>
            </a:endParaRPr>
          </a:p>
          <a:p>
            <a:pPr indent="0" lvl="0" marL="457200" rtl="0" algn="l">
              <a:spcBef>
                <a:spcPts val="0"/>
              </a:spcBef>
              <a:spcAft>
                <a:spcPts val="0"/>
              </a:spcAft>
              <a:buNone/>
            </a:pPr>
            <a:r>
              <a:t/>
            </a:r>
            <a:endParaRPr sz="1600">
              <a:solidFill>
                <a:schemeClr val="lt1"/>
              </a:solidFill>
            </a:endParaRPr>
          </a:p>
          <a:p>
            <a:pPr indent="-330200" lvl="0" marL="457200" rtl="0" algn="l">
              <a:spcBef>
                <a:spcPts val="0"/>
              </a:spcBef>
              <a:spcAft>
                <a:spcPts val="0"/>
              </a:spcAft>
              <a:buClr>
                <a:schemeClr val="lt1"/>
              </a:buClr>
              <a:buSzPts val="1600"/>
              <a:buChar char="●"/>
            </a:pPr>
            <a:r>
              <a:rPr lang="en-US" sz="1600">
                <a:solidFill>
                  <a:schemeClr val="lt1"/>
                </a:solidFill>
              </a:rPr>
              <a:t>Number of Spans does not have a strong correlation with Structure Length</a:t>
            </a:r>
            <a:endParaRPr sz="1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4"/>
          <p:cNvSpPr txBox="1"/>
          <p:nvPr>
            <p:ph type="title"/>
          </p:nvPr>
        </p:nvSpPr>
        <p:spPr>
          <a:xfrm>
            <a:off x="166688" y="248374"/>
            <a:ext cx="7404100" cy="569595"/>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82A222"/>
              </a:buClr>
              <a:buSzPct val="100000"/>
              <a:buFont typeface="Century Gothic"/>
              <a:buNone/>
            </a:pPr>
            <a:r>
              <a:rPr lang="en-US" sz="3200">
                <a:solidFill>
                  <a:srgbClr val="82A222"/>
                </a:solidFill>
              </a:rPr>
              <a:t>Prediction Bridge Conditions</a:t>
            </a:r>
            <a:endParaRPr sz="3200">
              <a:solidFill>
                <a:srgbClr val="82A222"/>
              </a:solidFill>
            </a:endParaRPr>
          </a:p>
        </p:txBody>
      </p:sp>
      <p:sp>
        <p:nvSpPr>
          <p:cNvPr id="269" name="Google Shape;269;p14"/>
          <p:cNvSpPr txBox="1"/>
          <p:nvPr>
            <p:ph idx="1" type="body"/>
          </p:nvPr>
        </p:nvSpPr>
        <p:spPr>
          <a:xfrm>
            <a:off x="500125" y="1114726"/>
            <a:ext cx="3298200" cy="1894200"/>
          </a:xfrm>
          <a:prstGeom prst="rect">
            <a:avLst/>
          </a:prstGeom>
          <a:noFill/>
          <a:ln>
            <a:noFill/>
          </a:ln>
        </p:spPr>
        <p:txBody>
          <a:bodyPr anchorCtr="0" anchor="t" bIns="45700" lIns="91425" spcFirstLastPara="1" rIns="91425" wrap="square" tIns="45700">
            <a:normAutofit lnSpcReduction="10000"/>
          </a:bodyPr>
          <a:lstStyle/>
          <a:p>
            <a:pPr indent="-251459" lvl="0" marL="342900" rtl="0" algn="l">
              <a:spcBef>
                <a:spcPts val="0"/>
              </a:spcBef>
              <a:spcAft>
                <a:spcPts val="0"/>
              </a:spcAft>
              <a:buSzPts val="1440"/>
              <a:buNone/>
            </a:pPr>
            <a:r>
              <a:rPr b="1" lang="en-US"/>
              <a:t>Original Features: </a:t>
            </a:r>
            <a:r>
              <a:rPr lang="en-US"/>
              <a:t>Main Span Material, Main Span Design &amp; Number of Spans)</a:t>
            </a:r>
            <a:endParaRPr/>
          </a:p>
          <a:p>
            <a:pPr indent="-251459" lvl="0" marL="342900" rtl="0" algn="l">
              <a:spcBef>
                <a:spcPts val="0"/>
              </a:spcBef>
              <a:spcAft>
                <a:spcPts val="0"/>
              </a:spcAft>
              <a:buSzPts val="1440"/>
              <a:buNone/>
            </a:pPr>
            <a:r>
              <a:t/>
            </a:r>
            <a:endParaRPr/>
          </a:p>
          <a:p>
            <a:pPr indent="0" lvl="0" marL="91440" rtl="0" algn="l">
              <a:spcBef>
                <a:spcPts val="0"/>
              </a:spcBef>
              <a:spcAft>
                <a:spcPts val="0"/>
              </a:spcAft>
              <a:buSzPts val="1440"/>
              <a:buNone/>
            </a:pPr>
            <a:r>
              <a:rPr lang="en-US"/>
              <a:t>Performance is moderate. not highly effective </a:t>
            </a:r>
            <a:endParaRPr/>
          </a:p>
        </p:txBody>
      </p:sp>
      <p:sp>
        <p:nvSpPr>
          <p:cNvPr id="270" name="Google Shape;270;p14"/>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11</a:t>
            </a:r>
            <a:endParaRPr sz="2000">
              <a:solidFill>
                <a:schemeClr val="lt1"/>
              </a:solidFill>
              <a:latin typeface="Century Gothic"/>
              <a:ea typeface="Century Gothic"/>
              <a:cs typeface="Century Gothic"/>
              <a:sym typeface="Century Gothic"/>
            </a:endParaRPr>
          </a:p>
        </p:txBody>
      </p:sp>
      <p:pic>
        <p:nvPicPr>
          <p:cNvPr id="271" name="Google Shape;271;p14"/>
          <p:cNvPicPr preferRelativeResize="0"/>
          <p:nvPr/>
        </p:nvPicPr>
        <p:blipFill>
          <a:blip r:embed="rId3">
            <a:alphaModFix/>
          </a:blip>
          <a:stretch>
            <a:fillRect/>
          </a:stretch>
        </p:blipFill>
        <p:spPr>
          <a:xfrm>
            <a:off x="253100" y="3075243"/>
            <a:ext cx="3696300" cy="3448007"/>
          </a:xfrm>
          <a:prstGeom prst="rect">
            <a:avLst/>
          </a:prstGeom>
          <a:noFill/>
          <a:ln>
            <a:noFill/>
          </a:ln>
        </p:spPr>
      </p:pic>
      <p:sp>
        <p:nvSpPr>
          <p:cNvPr id="272" name="Google Shape;272;p14"/>
          <p:cNvSpPr txBox="1"/>
          <p:nvPr>
            <p:ph idx="1" type="body"/>
          </p:nvPr>
        </p:nvSpPr>
        <p:spPr>
          <a:xfrm>
            <a:off x="4447425" y="1114726"/>
            <a:ext cx="3298200" cy="1894200"/>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rPr b="1" lang="en-US"/>
              <a:t>Refined Features: </a:t>
            </a:r>
            <a:r>
              <a:rPr lang="en-US"/>
              <a:t>Main Span Material and Bridge Age)</a:t>
            </a:r>
            <a:endParaRPr/>
          </a:p>
          <a:p>
            <a:pPr indent="-251459" lvl="0" marL="342900" rtl="0" algn="l">
              <a:spcBef>
                <a:spcPts val="0"/>
              </a:spcBef>
              <a:spcAft>
                <a:spcPts val="0"/>
              </a:spcAft>
              <a:buSzPts val="1440"/>
              <a:buNone/>
            </a:pPr>
            <a:r>
              <a:t/>
            </a:r>
            <a:endParaRPr/>
          </a:p>
          <a:p>
            <a:pPr indent="0" lvl="0" marL="91440" rtl="0" algn="l">
              <a:spcBef>
                <a:spcPts val="0"/>
              </a:spcBef>
              <a:spcAft>
                <a:spcPts val="0"/>
              </a:spcAft>
              <a:buSzPts val="1440"/>
              <a:buNone/>
            </a:pPr>
            <a:r>
              <a:rPr lang="en-US"/>
              <a:t>Performance is moderate. not highly effective </a:t>
            </a:r>
            <a:endParaRPr/>
          </a:p>
        </p:txBody>
      </p:sp>
      <p:pic>
        <p:nvPicPr>
          <p:cNvPr id="273" name="Google Shape;273;p14"/>
          <p:cNvPicPr preferRelativeResize="0"/>
          <p:nvPr/>
        </p:nvPicPr>
        <p:blipFill>
          <a:blip r:embed="rId4">
            <a:alphaModFix/>
          </a:blip>
          <a:stretch>
            <a:fillRect/>
          </a:stretch>
        </p:blipFill>
        <p:spPr>
          <a:xfrm>
            <a:off x="4751900" y="3008926"/>
            <a:ext cx="3696307" cy="35442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p:nvPr/>
        </p:nvSpPr>
        <p:spPr>
          <a:xfrm>
            <a:off x="6539954" y="1460230"/>
            <a:ext cx="2604045"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9" name="Google Shape;279;p16"/>
          <p:cNvSpPr txBox="1"/>
          <p:nvPr>
            <p:ph type="title"/>
          </p:nvPr>
        </p:nvSpPr>
        <p:spPr>
          <a:xfrm>
            <a:off x="486697" y="629267"/>
            <a:ext cx="6939116" cy="101665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Conclusion</a:t>
            </a:r>
            <a:r>
              <a:rPr lang="en-US"/>
              <a:t> </a:t>
            </a:r>
            <a:endParaRPr/>
          </a:p>
        </p:txBody>
      </p:sp>
      <p:sp>
        <p:nvSpPr>
          <p:cNvPr id="280" name="Google Shape;280;p16"/>
          <p:cNvSpPr/>
          <p:nvPr/>
        </p:nvSpPr>
        <p:spPr>
          <a:xfrm>
            <a:off x="0" y="3924298"/>
            <a:ext cx="9144313" cy="293370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1" name="Google Shape;281;p16"/>
          <p:cNvSpPr/>
          <p:nvPr/>
        </p:nvSpPr>
        <p:spPr>
          <a:xfrm>
            <a:off x="0" y="1762067"/>
            <a:ext cx="9143772" cy="2802467"/>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2" name="Google Shape;282;p16"/>
          <p:cNvSpPr txBox="1"/>
          <p:nvPr>
            <p:ph idx="1" type="body"/>
          </p:nvPr>
        </p:nvSpPr>
        <p:spPr>
          <a:xfrm>
            <a:off x="630302" y="2511600"/>
            <a:ext cx="7997700" cy="3658800"/>
          </a:xfrm>
          <a:prstGeom prst="rect">
            <a:avLst/>
          </a:prstGeom>
          <a:noFill/>
          <a:ln>
            <a:noFill/>
          </a:ln>
        </p:spPr>
        <p:txBody>
          <a:bodyPr anchorCtr="0" anchor="t" bIns="45700" lIns="91425" spcFirstLastPara="1" rIns="91425" wrap="square" tIns="45700">
            <a:noAutofit/>
          </a:bodyPr>
          <a:lstStyle/>
          <a:p>
            <a:pPr indent="-287020" lvl="0" marL="342900" rtl="0" algn="l">
              <a:lnSpc>
                <a:spcPct val="90000"/>
              </a:lnSpc>
              <a:spcBef>
                <a:spcPts val="0"/>
              </a:spcBef>
              <a:spcAft>
                <a:spcPts val="0"/>
              </a:spcAft>
              <a:buSzPts val="880"/>
              <a:buNone/>
            </a:pPr>
            <a:r>
              <a:t/>
            </a:r>
            <a:endParaRPr sz="1600">
              <a:solidFill>
                <a:schemeClr val="dk1"/>
              </a:solidFill>
              <a:latin typeface="Times New Roman"/>
              <a:ea typeface="Times New Roman"/>
              <a:cs typeface="Times New Roman"/>
              <a:sym typeface="Times New Roman"/>
            </a:endParaRPr>
          </a:p>
          <a:p>
            <a:pPr indent="-388620" lvl="0" marL="342900" rtl="0" algn="l">
              <a:lnSpc>
                <a:spcPct val="90000"/>
              </a:lnSpc>
              <a:spcBef>
                <a:spcPts val="1000"/>
              </a:spcBef>
              <a:spcAft>
                <a:spcPts val="0"/>
              </a:spcAft>
              <a:buSzPts val="1600"/>
              <a:buChar char="►"/>
            </a:pPr>
            <a:r>
              <a:rPr lang="en-US" sz="1600">
                <a:solidFill>
                  <a:schemeClr val="dk1"/>
                </a:solidFill>
                <a:latin typeface="Times New Roman"/>
                <a:ea typeface="Times New Roman"/>
                <a:cs typeface="Times New Roman"/>
                <a:sym typeface="Times New Roman"/>
              </a:rPr>
              <a:t>This research successfully used machine learning and big data analytics to examine the variables affecting the lifespan and upkeep requirements of </a:t>
            </a:r>
            <a:r>
              <a:rPr lang="en-US" sz="1600">
                <a:solidFill>
                  <a:schemeClr val="dk1"/>
                </a:solidFill>
                <a:latin typeface="Times New Roman"/>
                <a:ea typeface="Times New Roman"/>
                <a:cs typeface="Times New Roman"/>
                <a:sym typeface="Times New Roman"/>
              </a:rPr>
              <a:t>California</a:t>
            </a:r>
            <a:r>
              <a:rPr lang="en-US" sz="1600">
                <a:solidFill>
                  <a:schemeClr val="dk1"/>
                </a:solidFill>
                <a:latin typeface="Times New Roman"/>
                <a:ea typeface="Times New Roman"/>
                <a:cs typeface="Times New Roman"/>
                <a:sym typeface="Times New Roman"/>
              </a:rPr>
              <a:t> bridges.</a:t>
            </a:r>
            <a:endParaRPr sz="1600">
              <a:solidFill>
                <a:schemeClr val="dk1"/>
              </a:solidFill>
              <a:latin typeface="Times New Roman"/>
              <a:ea typeface="Times New Roman"/>
              <a:cs typeface="Times New Roman"/>
              <a:sym typeface="Times New Roman"/>
            </a:endParaRPr>
          </a:p>
          <a:p>
            <a:pPr indent="-388620" lvl="0" marL="342900" rtl="0" algn="l">
              <a:lnSpc>
                <a:spcPct val="90000"/>
              </a:lnSpc>
              <a:spcBef>
                <a:spcPts val="1000"/>
              </a:spcBef>
              <a:spcAft>
                <a:spcPts val="0"/>
              </a:spcAft>
              <a:buSzPts val="1600"/>
              <a:buChar char="►"/>
            </a:pPr>
            <a:r>
              <a:rPr lang="en-US" sz="1600">
                <a:solidFill>
                  <a:schemeClr val="dk1"/>
                </a:solidFill>
                <a:latin typeface="Times New Roman"/>
                <a:ea typeface="Times New Roman"/>
                <a:cs typeface="Times New Roman"/>
                <a:sym typeface="Times New Roman"/>
              </a:rPr>
              <a:t> Regression and clustering models were used to provide useful information on bridge deterioration, which helped transportation authorities set maintenance priorities. </a:t>
            </a:r>
            <a:endParaRPr sz="1600">
              <a:solidFill>
                <a:schemeClr val="dk1"/>
              </a:solidFill>
              <a:latin typeface="Times New Roman"/>
              <a:ea typeface="Times New Roman"/>
              <a:cs typeface="Times New Roman"/>
              <a:sym typeface="Times New Roman"/>
            </a:endParaRPr>
          </a:p>
          <a:p>
            <a:pPr indent="-388620" lvl="0" marL="342900" rtl="0" algn="l">
              <a:lnSpc>
                <a:spcPct val="90000"/>
              </a:lnSpc>
              <a:spcBef>
                <a:spcPts val="1000"/>
              </a:spcBef>
              <a:spcAft>
                <a:spcPts val="0"/>
              </a:spcAft>
              <a:buSzPts val="1600"/>
              <a:buChar char="►"/>
            </a:pPr>
            <a:r>
              <a:rPr lang="en-US" sz="1600">
                <a:solidFill>
                  <a:schemeClr val="dk1"/>
                </a:solidFill>
                <a:latin typeface="Times New Roman"/>
                <a:ea typeface="Times New Roman"/>
                <a:cs typeface="Times New Roman"/>
                <a:sym typeface="Times New Roman"/>
              </a:rPr>
              <a:t>This study demonstrates how predictive analytics may be used in infrastructure design to improve public safety and allocate resources optimally for long-term bridge reliability in a scalable and data-driven manner.</a:t>
            </a:r>
            <a:endParaRPr sz="1600">
              <a:solidFill>
                <a:schemeClr val="dk1"/>
              </a:solidFill>
              <a:latin typeface="Times New Roman"/>
              <a:ea typeface="Times New Roman"/>
              <a:cs typeface="Times New Roman"/>
              <a:sym typeface="Times New Roman"/>
            </a:endParaRPr>
          </a:p>
          <a:p>
            <a:pPr indent="-353060" lvl="0" marL="342900" rtl="0" algn="l">
              <a:lnSpc>
                <a:spcPct val="90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We learned to clean and analyze a sizable dataset using technologies like Databricks, PySpark, and Spark MLlib, revealing important trends and patterns pertaining to bridge conditions, materials, length, etc.</a:t>
            </a:r>
            <a:endParaRPr sz="1600">
              <a:solidFill>
                <a:schemeClr val="dk1"/>
              </a:solidFill>
              <a:latin typeface="Times New Roman"/>
              <a:ea typeface="Times New Roman"/>
              <a:cs typeface="Times New Roman"/>
              <a:sym typeface="Times New Roman"/>
            </a:endParaRPr>
          </a:p>
        </p:txBody>
      </p:sp>
      <p:sp>
        <p:nvSpPr>
          <p:cNvPr id="283" name="Google Shape;283;p16"/>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12</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FUTURE SCOPE</a:t>
            </a:r>
            <a:endParaRPr/>
          </a:p>
        </p:txBody>
      </p:sp>
      <p:grpSp>
        <p:nvGrpSpPr>
          <p:cNvPr id="289" name="Google Shape;289;p17"/>
          <p:cNvGrpSpPr/>
          <p:nvPr/>
        </p:nvGrpSpPr>
        <p:grpSpPr>
          <a:xfrm>
            <a:off x="610445" y="2078917"/>
            <a:ext cx="8097276" cy="3663211"/>
            <a:chOff x="848" y="590304"/>
            <a:chExt cx="8097276" cy="3663211"/>
          </a:xfrm>
        </p:grpSpPr>
        <p:sp>
          <p:nvSpPr>
            <p:cNvPr id="290" name="Google Shape;290;p17"/>
            <p:cNvSpPr/>
            <p:nvPr/>
          </p:nvSpPr>
          <p:spPr>
            <a:xfrm>
              <a:off x="349792" y="590304"/>
              <a:ext cx="1091566" cy="1091566"/>
            </a:xfrm>
            <a:prstGeom prst="ellipse">
              <a:avLst/>
            </a:prstGeom>
            <a:solidFill>
              <a:srgbClr val="E1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582421" y="822933"/>
              <a:ext cx="626308" cy="626308"/>
            </a:xfrm>
            <a:prstGeom prst="rect">
              <a:avLst/>
            </a:prstGeom>
            <a:blipFill rotWithShape="1">
              <a:blip r:embed="rId3">
                <a:alphaModFix/>
              </a:blip>
              <a:stretch>
                <a:fillRect b="0" l="0" r="0" t="0"/>
              </a:stretch>
            </a:blip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848" y="2021867"/>
              <a:ext cx="1789453" cy="22316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txBox="1"/>
            <p:nvPr/>
          </p:nvSpPr>
          <p:spPr>
            <a:xfrm>
              <a:off x="848" y="2021867"/>
              <a:ext cx="1789453" cy="22316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entury Gothic"/>
                <a:buNone/>
              </a:pPr>
              <a:r>
                <a:rPr lang="en-US" sz="1100" cap="none">
                  <a:solidFill>
                    <a:schemeClr val="lt1"/>
                  </a:solidFill>
                  <a:latin typeface="Century Gothic"/>
                  <a:ea typeface="Century Gothic"/>
                  <a:cs typeface="Century Gothic"/>
                  <a:sym typeface="Century Gothic"/>
                </a:rPr>
                <a:t>TO PROVIDE A MORE THOROUGH ANALYSIS OF BRIDGE PERFORMANCE, FUTURE IMPROVEMENTS TO THIS PROJECT MIGHT INVOLVE ADDING EXTRA DATASETS, SUCH AS ENVIRONMENTAL PARAMETERS AND MAINTENANCE RECORDS. </a:t>
              </a:r>
              <a:endParaRPr/>
            </a:p>
          </p:txBody>
        </p:sp>
        <p:sp>
          <p:nvSpPr>
            <p:cNvPr id="294" name="Google Shape;294;p17"/>
            <p:cNvSpPr/>
            <p:nvPr/>
          </p:nvSpPr>
          <p:spPr>
            <a:xfrm>
              <a:off x="2452399" y="590304"/>
              <a:ext cx="1091566" cy="1091566"/>
            </a:xfrm>
            <a:prstGeom prst="ellipse">
              <a:avLst/>
            </a:prstGeom>
            <a:solidFill>
              <a:srgbClr val="E1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7"/>
            <p:cNvSpPr/>
            <p:nvPr/>
          </p:nvSpPr>
          <p:spPr>
            <a:xfrm>
              <a:off x="2685028" y="822933"/>
              <a:ext cx="626308" cy="626308"/>
            </a:xfrm>
            <a:prstGeom prst="rect">
              <a:avLst/>
            </a:prstGeom>
            <a:blipFill rotWithShape="1">
              <a:blip r:embed="rId4">
                <a:alphaModFix/>
              </a:blip>
              <a:stretch>
                <a:fillRect b="0" l="0" r="0" t="0"/>
              </a:stretch>
            </a:blip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2103456" y="2021867"/>
              <a:ext cx="1789453" cy="22316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txBox="1"/>
            <p:nvPr/>
          </p:nvSpPr>
          <p:spPr>
            <a:xfrm>
              <a:off x="2103456" y="2021867"/>
              <a:ext cx="1789453" cy="22316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entury Gothic"/>
                <a:buNone/>
              </a:pPr>
              <a:r>
                <a:rPr lang="en-US" sz="1100" cap="none">
                  <a:solidFill>
                    <a:schemeClr val="lt1"/>
                  </a:solidFill>
                  <a:latin typeface="Century Gothic"/>
                  <a:ea typeface="Century Gothic"/>
                  <a:cs typeface="Century Gothic"/>
                  <a:sym typeface="Century Gothic"/>
                </a:rPr>
                <a:t>TO INCREASE PREDICTION ACCURACY AND CAPTURE INTRICATE CORRELATIONS BETWEEN INFORMATION, ADVANCED MACHINE LEARNING TECHNIQUES SUCH AS GRADIENT BOOSTING OR NEURAL NETWORKS COULD BE INVESTIGATED. </a:t>
              </a:r>
              <a:endParaRPr/>
            </a:p>
          </p:txBody>
        </p:sp>
        <p:sp>
          <p:nvSpPr>
            <p:cNvPr id="298" name="Google Shape;298;p17"/>
            <p:cNvSpPr/>
            <p:nvPr/>
          </p:nvSpPr>
          <p:spPr>
            <a:xfrm>
              <a:off x="4555007" y="590304"/>
              <a:ext cx="1091566" cy="1091566"/>
            </a:xfrm>
            <a:prstGeom prst="ellipse">
              <a:avLst/>
            </a:prstGeom>
            <a:solidFill>
              <a:srgbClr val="E1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4787635" y="822933"/>
              <a:ext cx="626308" cy="626308"/>
            </a:xfrm>
            <a:prstGeom prst="rect">
              <a:avLst/>
            </a:prstGeom>
            <a:blipFill rotWithShape="1">
              <a:blip r:embed="rId5">
                <a:alphaModFix/>
              </a:blip>
              <a:stretch>
                <a:fillRect b="0" l="0" r="0" t="0"/>
              </a:stretch>
            </a:blip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4206063" y="2021867"/>
              <a:ext cx="1789453" cy="22316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txBox="1"/>
            <p:nvPr/>
          </p:nvSpPr>
          <p:spPr>
            <a:xfrm>
              <a:off x="4206063" y="2021867"/>
              <a:ext cx="1789453" cy="22316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entury Gothic"/>
                <a:buNone/>
              </a:pPr>
              <a:r>
                <a:rPr lang="en-US" sz="1100" cap="none">
                  <a:solidFill>
                    <a:schemeClr val="lt1"/>
                  </a:solidFill>
                  <a:latin typeface="Century Gothic"/>
                  <a:ea typeface="Century Gothic"/>
                  <a:cs typeface="Century Gothic"/>
                  <a:sym typeface="Century Gothic"/>
                </a:rPr>
                <a:t>MOREOVER, DYNAMIC MONITORING AND PREDICTIVE MAINTENANCE WOULD BE MADE POSSIBLE BY INCORPORATING REAL-TIME DATA STREAMS, SUCH AS REAL-TIME TRAFFIC COUNTS OR SENSOR DATA FROM SMART BRIDGES. </a:t>
              </a:r>
              <a:endParaRPr/>
            </a:p>
          </p:txBody>
        </p:sp>
        <p:sp>
          <p:nvSpPr>
            <p:cNvPr id="302" name="Google Shape;302;p17"/>
            <p:cNvSpPr/>
            <p:nvPr/>
          </p:nvSpPr>
          <p:spPr>
            <a:xfrm>
              <a:off x="6657614" y="590304"/>
              <a:ext cx="1091566" cy="1091566"/>
            </a:xfrm>
            <a:prstGeom prst="ellipse">
              <a:avLst/>
            </a:prstGeom>
            <a:solidFill>
              <a:srgbClr val="E1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6890243" y="822933"/>
              <a:ext cx="626308" cy="626308"/>
            </a:xfrm>
            <a:prstGeom prst="rect">
              <a:avLst/>
            </a:prstGeom>
            <a:blipFill rotWithShape="1">
              <a:blip r:embed="rId6">
                <a:alphaModFix/>
              </a:blip>
              <a:stretch>
                <a:fillRect b="0" l="0" r="0" t="0"/>
              </a:stretch>
            </a:blip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6308671" y="2021867"/>
              <a:ext cx="1789453" cy="22316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txBox="1"/>
            <p:nvPr/>
          </p:nvSpPr>
          <p:spPr>
            <a:xfrm>
              <a:off x="6308671" y="2021867"/>
              <a:ext cx="1789453" cy="22316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entury Gothic"/>
                <a:buNone/>
              </a:pPr>
              <a:r>
                <a:rPr lang="en-US" sz="1100" cap="none">
                  <a:solidFill>
                    <a:schemeClr val="lt1"/>
                  </a:solidFill>
                  <a:latin typeface="Century Gothic"/>
                  <a:ea typeface="Century Gothic"/>
                  <a:cs typeface="Century Gothic"/>
                  <a:sym typeface="Century Gothic"/>
                </a:rPr>
                <a:t>BROADENING THE GEOGRAPHIC FOCUS TO ENCOMPASS BRIDGES IN SEVERAL STATES MAY ALSO OFFER MORE COMPREHENSIVE INSIGHTS ON NATIONAL INFRASTRUCTURE PATTERNS, ASSISTING IN THE DEVELOPMENT OF MORE EFFICIENT POLICIES AND THE DISTRIBUTION OF RESOURCES.</a:t>
              </a:r>
              <a:endParaRPr/>
            </a:p>
          </p:txBody>
        </p:sp>
      </p:grpSp>
      <p:sp>
        <p:nvSpPr>
          <p:cNvPr id="306" name="Google Shape;306;p17"/>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13</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type="title"/>
          </p:nvPr>
        </p:nvSpPr>
        <p:spPr>
          <a:xfrm>
            <a:off x="598024" y="297083"/>
            <a:ext cx="6347713"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Times New Roman"/>
              <a:buNone/>
            </a:pPr>
            <a:r>
              <a:rPr b="1" lang="en-US">
                <a:latin typeface="Times New Roman"/>
                <a:ea typeface="Times New Roman"/>
                <a:cs typeface="Times New Roman"/>
                <a:sym typeface="Times New Roman"/>
              </a:rPr>
              <a:t>Acknowledgements and </a:t>
            </a:r>
            <a:r>
              <a:rPr b="1" lang="en-US">
                <a:latin typeface="Times New Roman"/>
                <a:ea typeface="Times New Roman"/>
                <a:cs typeface="Times New Roman"/>
                <a:sym typeface="Times New Roman"/>
              </a:rPr>
              <a:t>References</a:t>
            </a:r>
            <a:endParaRPr/>
          </a:p>
        </p:txBody>
      </p:sp>
      <p:sp>
        <p:nvSpPr>
          <p:cNvPr id="312" name="Google Shape;312;p18"/>
          <p:cNvSpPr txBox="1"/>
          <p:nvPr>
            <p:ph idx="1" type="body"/>
          </p:nvPr>
        </p:nvSpPr>
        <p:spPr>
          <a:xfrm>
            <a:off x="598027" y="1503725"/>
            <a:ext cx="7741800" cy="49530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120"/>
              <a:buNone/>
            </a:pPr>
            <a:r>
              <a:t/>
            </a:r>
            <a:endParaRPr sz="1400"/>
          </a:p>
          <a:p>
            <a:pPr indent="0" lvl="0" marL="0" rtl="0" algn="l">
              <a:spcBef>
                <a:spcPts val="1000"/>
              </a:spcBef>
              <a:spcAft>
                <a:spcPts val="0"/>
              </a:spcAft>
              <a:buSzPts val="1120"/>
              <a:buNone/>
            </a:pPr>
            <a:r>
              <a:t/>
            </a:r>
            <a:endParaRPr sz="1400">
              <a:latin typeface="Times New Roman"/>
              <a:ea typeface="Times New Roman"/>
              <a:cs typeface="Times New Roman"/>
              <a:sym typeface="Times New Roman"/>
            </a:endParaRPr>
          </a:p>
          <a:p>
            <a:pPr indent="-342900" lvl="0" marL="342900" rtl="0" algn="l">
              <a:spcBef>
                <a:spcPts val="1000"/>
              </a:spcBef>
              <a:spcAft>
                <a:spcPts val="0"/>
              </a:spcAft>
              <a:buSzPts val="1120"/>
              <a:buChar char="►"/>
            </a:pPr>
            <a:r>
              <a:rPr b="1" lang="en-US" sz="1400">
                <a:latin typeface="Times New Roman"/>
                <a:ea typeface="Times New Roman"/>
                <a:cs typeface="Times New Roman"/>
                <a:sym typeface="Times New Roman"/>
              </a:rPr>
              <a:t>Acknowledgements: </a:t>
            </a:r>
            <a:r>
              <a:rPr lang="en-US" sz="1400">
                <a:latin typeface="Times New Roman"/>
                <a:ea typeface="Times New Roman"/>
                <a:cs typeface="Times New Roman"/>
                <a:sym typeface="Times New Roman"/>
              </a:rPr>
              <a:t>Professor Zhang, Parth Dalal, Family &amp; Friends</a:t>
            </a:r>
            <a:endParaRPr sz="1400">
              <a:latin typeface="Times New Roman"/>
              <a:ea typeface="Times New Roman"/>
              <a:cs typeface="Times New Roman"/>
              <a:sym typeface="Times New Roman"/>
            </a:endParaRPr>
          </a:p>
          <a:p>
            <a:pPr indent="0" lvl="0" marL="342900" rtl="0" algn="l">
              <a:spcBef>
                <a:spcPts val="1000"/>
              </a:spcBef>
              <a:spcAft>
                <a:spcPts val="0"/>
              </a:spcAft>
              <a:buNone/>
            </a:pPr>
            <a:r>
              <a:t/>
            </a:r>
            <a:endParaRPr sz="1400">
              <a:latin typeface="Times New Roman"/>
              <a:ea typeface="Times New Roman"/>
              <a:cs typeface="Times New Roman"/>
              <a:sym typeface="Times New Roman"/>
            </a:endParaRPr>
          </a:p>
          <a:p>
            <a:pPr indent="-342900" lvl="0" marL="342900" rtl="0" algn="l">
              <a:spcBef>
                <a:spcPts val="1000"/>
              </a:spcBef>
              <a:spcAft>
                <a:spcPts val="0"/>
              </a:spcAft>
              <a:buSzPts val="1120"/>
              <a:buChar char="►"/>
            </a:pPr>
            <a:r>
              <a:rPr lang="en-US" sz="1400">
                <a:latin typeface="Times New Roman"/>
                <a:ea typeface="Times New Roman"/>
                <a:cs typeface="Times New Roman"/>
                <a:sym typeface="Times New Roman"/>
              </a:rPr>
              <a:t>[1] Yang, C., Lou, P., Nassif, H., &amp; States., U. (2024, May). </a:t>
            </a:r>
            <a:r>
              <a:rPr i="1" lang="en-US" sz="1400">
                <a:latin typeface="Times New Roman"/>
                <a:ea typeface="Times New Roman"/>
                <a:cs typeface="Times New Roman"/>
                <a:sym typeface="Times New Roman"/>
              </a:rPr>
              <a:t>Correlation of Bridge Deck Deterioration with Truckload Spectra Based on NBI Condition Rating and Weigh-In-Motion Data</a:t>
            </a:r>
            <a:r>
              <a:rPr lang="en-US" sz="1400">
                <a:latin typeface="Times New Roman"/>
                <a:ea typeface="Times New Roman"/>
                <a:cs typeface="Times New Roman"/>
                <a:sym typeface="Times New Roman"/>
              </a:rPr>
              <a:t>. Bts.gov; United States. Department of Transportation. Federal Highway Administration. Office of Research, Development, and Technology. </a:t>
            </a:r>
            <a:r>
              <a:rPr lang="en-US" sz="1400" u="sng">
                <a:solidFill>
                  <a:schemeClr val="hlink"/>
                </a:solidFill>
                <a:latin typeface="Times New Roman"/>
                <a:ea typeface="Times New Roman"/>
                <a:cs typeface="Times New Roman"/>
                <a:sym typeface="Times New Roman"/>
                <a:hlinkClick r:id="rId3"/>
              </a:rPr>
              <a:t>https://rosap.ntl.bts.gov/view/dot/74540</a:t>
            </a:r>
            <a:r>
              <a:rPr lang="en-US" sz="1400">
                <a:latin typeface="Times New Roman"/>
                <a:ea typeface="Times New Roman"/>
                <a:cs typeface="Times New Roman"/>
                <a:sym typeface="Times New Roman"/>
              </a:rPr>
              <a:t> Accessed 21 Oct. 2024.</a:t>
            </a:r>
            <a:endParaRPr/>
          </a:p>
          <a:p>
            <a:pPr indent="0" lvl="0" marL="0" rtl="0" algn="l">
              <a:spcBef>
                <a:spcPts val="1000"/>
              </a:spcBef>
              <a:spcAft>
                <a:spcPts val="0"/>
              </a:spcAft>
              <a:buSzPts val="1120"/>
              <a:buNone/>
            </a:pPr>
            <a:r>
              <a:rPr lang="en-US" sz="1400">
                <a:latin typeface="Times New Roman"/>
                <a:ea typeface="Times New Roman"/>
                <a:cs typeface="Times New Roman"/>
                <a:sym typeface="Times New Roman"/>
              </a:rPr>
              <a:t> </a:t>
            </a:r>
            <a:endParaRPr/>
          </a:p>
          <a:p>
            <a:pPr indent="-342900" lvl="0" marL="342900" rtl="0" algn="l">
              <a:spcBef>
                <a:spcPts val="1000"/>
              </a:spcBef>
              <a:spcAft>
                <a:spcPts val="0"/>
              </a:spcAft>
              <a:buSzPts val="1120"/>
              <a:buChar char="►"/>
            </a:pPr>
            <a:r>
              <a:rPr lang="en-US" sz="1400">
                <a:latin typeface="Times New Roman"/>
                <a:ea typeface="Times New Roman"/>
                <a:cs typeface="Times New Roman"/>
                <a:sym typeface="Times New Roman"/>
              </a:rPr>
              <a:t>[2] Alipour, A., Shafei, B., Mock, A., Prajapat, K., &amp; State, I. (2020, June). </a:t>
            </a:r>
            <a:r>
              <a:rPr i="1" lang="en-US" sz="1400">
                <a:latin typeface="Times New Roman"/>
                <a:ea typeface="Times New Roman"/>
                <a:cs typeface="Times New Roman"/>
                <a:sym typeface="Times New Roman"/>
              </a:rPr>
              <a:t>Development of a Life-Cycle Cost Analysis Tool for Improved Maintenance and Management of Bridges</a:t>
            </a:r>
            <a:r>
              <a:rPr lang="en-US" sz="1400">
                <a:latin typeface="Times New Roman"/>
                <a:ea typeface="Times New Roman"/>
                <a:cs typeface="Times New Roman"/>
                <a:sym typeface="Times New Roman"/>
              </a:rPr>
              <a:t>. Bts.gov; Iowa State University. Institute for Transportation. </a:t>
            </a:r>
            <a:r>
              <a:rPr lang="en-US" sz="1400" u="sng">
                <a:solidFill>
                  <a:schemeClr val="hlink"/>
                </a:solidFill>
                <a:latin typeface="Times New Roman"/>
                <a:ea typeface="Times New Roman"/>
                <a:cs typeface="Times New Roman"/>
                <a:sym typeface="Times New Roman"/>
                <a:hlinkClick r:id="rId4"/>
              </a:rPr>
              <a:t>https://rosap.ntl.bts.gov/view/dot/55485</a:t>
            </a:r>
            <a:r>
              <a:rPr lang="en-US" sz="1400">
                <a:latin typeface="Times New Roman"/>
                <a:ea typeface="Times New Roman"/>
                <a:cs typeface="Times New Roman"/>
                <a:sym typeface="Times New Roman"/>
              </a:rPr>
              <a:t> Accessed 21 Oct. 2024.</a:t>
            </a:r>
            <a:endParaRPr/>
          </a:p>
          <a:p>
            <a:pPr indent="0" lvl="0" marL="0" rtl="0" algn="l">
              <a:spcBef>
                <a:spcPts val="1000"/>
              </a:spcBef>
              <a:spcAft>
                <a:spcPts val="0"/>
              </a:spcAft>
              <a:buNone/>
            </a:pPr>
            <a:r>
              <a:rPr lang="en-US" sz="1400">
                <a:latin typeface="Times New Roman"/>
                <a:ea typeface="Times New Roman"/>
                <a:cs typeface="Times New Roman"/>
                <a:sym typeface="Times New Roman"/>
              </a:rPr>
              <a:t> </a:t>
            </a:r>
            <a:endParaRPr/>
          </a:p>
          <a:p>
            <a:pPr indent="-342900" lvl="0" marL="342900" rtl="0" algn="l">
              <a:spcBef>
                <a:spcPts val="1000"/>
              </a:spcBef>
              <a:spcAft>
                <a:spcPts val="0"/>
              </a:spcAft>
              <a:buSzPts val="1120"/>
              <a:buChar char="►"/>
            </a:pPr>
            <a:r>
              <a:rPr lang="en-US" sz="1400">
                <a:latin typeface="Times New Roman"/>
                <a:ea typeface="Times New Roman"/>
                <a:cs typeface="Times New Roman"/>
                <a:sym typeface="Times New Roman"/>
              </a:rPr>
              <a:t>[3] </a:t>
            </a:r>
            <a:r>
              <a:rPr i="1" lang="en-US" sz="1400">
                <a:latin typeface="Times New Roman"/>
                <a:ea typeface="Times New Roman"/>
                <a:cs typeface="Times New Roman"/>
                <a:sym typeface="Times New Roman"/>
              </a:rPr>
              <a:t>Data - LTBP InfoBridge</a:t>
            </a:r>
            <a:r>
              <a:rPr lang="en-US" sz="1400">
                <a:latin typeface="Times New Roman"/>
                <a:ea typeface="Times New Roman"/>
                <a:cs typeface="Times New Roman"/>
                <a:sym typeface="Times New Roman"/>
              </a:rPr>
              <a:t>. (2020). Dot.gov. </a:t>
            </a:r>
            <a:r>
              <a:rPr lang="en-US" sz="1400" u="sng">
                <a:solidFill>
                  <a:schemeClr val="hlink"/>
                </a:solidFill>
                <a:latin typeface="Times New Roman"/>
                <a:ea typeface="Times New Roman"/>
                <a:cs typeface="Times New Roman"/>
                <a:sym typeface="Times New Roman"/>
                <a:hlinkClick r:id="rId5"/>
              </a:rPr>
              <a:t>https://infobridge.fhwa.dot.gov/Data/SelectedBridges</a:t>
            </a:r>
            <a:r>
              <a:rPr lang="en-US" sz="1400">
                <a:latin typeface="Times New Roman"/>
                <a:ea typeface="Times New Roman"/>
                <a:cs typeface="Times New Roman"/>
                <a:sym typeface="Times New Roman"/>
              </a:rPr>
              <a:t> Accessed 21 Oct. 2024.</a:t>
            </a:r>
            <a:endParaRPr/>
          </a:p>
          <a:p>
            <a:pPr indent="0" lvl="0" marL="0" rtl="0" algn="l">
              <a:spcBef>
                <a:spcPts val="1000"/>
              </a:spcBef>
              <a:spcAft>
                <a:spcPts val="0"/>
              </a:spcAft>
              <a:buSzPts val="1120"/>
              <a:buNone/>
            </a:pPr>
            <a:r>
              <a:t/>
            </a:r>
            <a:endParaRPr sz="1400"/>
          </a:p>
        </p:txBody>
      </p:sp>
      <p:sp>
        <p:nvSpPr>
          <p:cNvPr id="313" name="Google Shape;313;p18"/>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14</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9"/>
          <p:cNvSpPr txBox="1"/>
          <p:nvPr>
            <p:ph idx="1" type="body"/>
          </p:nvPr>
        </p:nvSpPr>
        <p:spPr>
          <a:xfrm>
            <a:off x="625223" y="1936450"/>
            <a:ext cx="4212300" cy="3785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t/>
            </a:r>
            <a:endParaRPr b="1">
              <a:latin typeface="Times New Roman"/>
              <a:ea typeface="Times New Roman"/>
              <a:cs typeface="Times New Roman"/>
              <a:sym typeface="Times New Roman"/>
            </a:endParaRPr>
          </a:p>
          <a:p>
            <a:pPr indent="0" lvl="0" marL="0" rtl="0" algn="l">
              <a:spcBef>
                <a:spcPts val="1000"/>
              </a:spcBef>
              <a:spcAft>
                <a:spcPts val="0"/>
              </a:spcAft>
              <a:buSzPts val="1600"/>
              <a:buNone/>
            </a:pPr>
            <a:r>
              <a:t/>
            </a:r>
            <a:endParaRPr b="1">
              <a:latin typeface="Times New Roman"/>
              <a:ea typeface="Times New Roman"/>
              <a:cs typeface="Times New Roman"/>
              <a:sym typeface="Times New Roman"/>
            </a:endParaRPr>
          </a:p>
          <a:p>
            <a:pPr indent="0" lvl="0" marL="0" rtl="0" algn="l">
              <a:spcBef>
                <a:spcPts val="1000"/>
              </a:spcBef>
              <a:spcAft>
                <a:spcPts val="0"/>
              </a:spcAft>
              <a:buSzPts val="1600"/>
              <a:buNone/>
            </a:pPr>
            <a:r>
              <a:rPr b="1" lang="en-US" sz="2400">
                <a:latin typeface="Times New Roman"/>
                <a:ea typeface="Times New Roman"/>
                <a:cs typeface="Times New Roman"/>
                <a:sym typeface="Times New Roman"/>
              </a:rPr>
              <a:t>THANK YOU FOR YOUR TIME AND ATTENTION!</a:t>
            </a:r>
            <a:endParaRPr b="1" sz="2400">
              <a:latin typeface="Times New Roman"/>
              <a:ea typeface="Times New Roman"/>
              <a:cs typeface="Times New Roman"/>
              <a:sym typeface="Times New Roman"/>
            </a:endParaRPr>
          </a:p>
          <a:p>
            <a:pPr indent="0" lvl="0" marL="0" rtl="0" algn="l">
              <a:spcBef>
                <a:spcPts val="1000"/>
              </a:spcBef>
              <a:spcAft>
                <a:spcPts val="0"/>
              </a:spcAft>
              <a:buSzPts val="1600"/>
              <a:buNone/>
            </a:pPr>
            <a:r>
              <a:t/>
            </a:r>
            <a:endParaRPr b="1" sz="2400">
              <a:latin typeface="Times New Roman"/>
              <a:ea typeface="Times New Roman"/>
              <a:cs typeface="Times New Roman"/>
              <a:sym typeface="Times New Roman"/>
            </a:endParaRPr>
          </a:p>
          <a:p>
            <a:pPr indent="0" lvl="0" marL="0" rtl="0" algn="l">
              <a:spcBef>
                <a:spcPts val="1000"/>
              </a:spcBef>
              <a:spcAft>
                <a:spcPts val="0"/>
              </a:spcAft>
              <a:buSzPts val="1600"/>
              <a:buNone/>
            </a:pPr>
            <a:r>
              <a:rPr b="1" lang="en-US" sz="2400">
                <a:solidFill>
                  <a:schemeClr val="accent1"/>
                </a:solidFill>
                <a:latin typeface="Times New Roman"/>
                <a:ea typeface="Times New Roman"/>
                <a:cs typeface="Times New Roman"/>
                <a:sym typeface="Times New Roman"/>
              </a:rPr>
              <a:t>ANY QUESTIONS?</a:t>
            </a:r>
            <a:endParaRPr b="1" sz="2400">
              <a:solidFill>
                <a:schemeClr val="accent1"/>
              </a:solidFill>
              <a:latin typeface="Times New Roman"/>
              <a:ea typeface="Times New Roman"/>
              <a:cs typeface="Times New Roman"/>
              <a:sym typeface="Times New Roman"/>
            </a:endParaRPr>
          </a:p>
        </p:txBody>
      </p:sp>
      <p:sp>
        <p:nvSpPr>
          <p:cNvPr id="319" name="Google Shape;319;p19"/>
          <p:cNvSpPr/>
          <p:nvPr/>
        </p:nvSpPr>
        <p:spPr>
          <a:xfrm>
            <a:off x="4837382" y="-1"/>
            <a:ext cx="419604"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0" name="Google Shape;320;p19"/>
          <p:cNvSpPr/>
          <p:nvPr/>
        </p:nvSpPr>
        <p:spPr>
          <a:xfrm>
            <a:off x="5665604" y="0"/>
            <a:ext cx="347871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1" name="Google Shape;321;p19"/>
          <p:cNvSpPr/>
          <p:nvPr/>
        </p:nvSpPr>
        <p:spPr>
          <a:xfrm rot="-5400000">
            <a:off x="2072550" y="2924731"/>
            <a:ext cx="6858000" cy="1008536"/>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Handshake" id="322" name="Google Shape;322;p19"/>
          <p:cNvPicPr preferRelativeResize="0"/>
          <p:nvPr/>
        </p:nvPicPr>
        <p:blipFill rotWithShape="1">
          <a:blip r:embed="rId3">
            <a:alphaModFix/>
          </a:blip>
          <a:srcRect b="0" l="0" r="0" t="0"/>
          <a:stretch/>
        </p:blipFill>
        <p:spPr>
          <a:xfrm>
            <a:off x="5672806" y="1936446"/>
            <a:ext cx="2985104" cy="2985104"/>
          </a:xfrm>
          <a:prstGeom prst="rect">
            <a:avLst/>
          </a:prstGeom>
          <a:noFill/>
          <a:ln>
            <a:noFill/>
          </a:ln>
        </p:spPr>
      </p:pic>
      <p:sp>
        <p:nvSpPr>
          <p:cNvPr id="323" name="Google Shape;323;p19"/>
          <p:cNvSpPr/>
          <p:nvPr/>
        </p:nvSpPr>
        <p:spPr>
          <a:xfrm>
            <a:off x="7831836" y="0"/>
            <a:ext cx="51435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4" name="Google Shape;324;p19"/>
          <p:cNvSpPr txBox="1"/>
          <p:nvPr/>
        </p:nvSpPr>
        <p:spPr>
          <a:xfrm>
            <a:off x="7866525" y="183375"/>
            <a:ext cx="495000" cy="5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15</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2013-01-27T09:14:00Z</dcterms:created>
  <dc:creator>ASUS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A8B17970A3B84251AD2F0342BEEBA430_13</vt:lpwstr>
  </property>
  <property fmtid="{D5CDD505-2E9C-101B-9397-08002B2CF9AE}" pid="3" name="KSOProductBuildVer">
    <vt:lpwstr>1033-12.2.0.13472</vt:lpwstr>
  </property>
</Properties>
</file>